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9" r:id="rId12"/>
    <p:sldId id="267" r:id="rId13"/>
    <p:sldId id="268"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3A3A"/>
    <a:srgbClr val="DDEBF7"/>
    <a:srgbClr val="1B263B"/>
    <a:srgbClr val="D72638"/>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17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14263-73E9-A12E-04CF-4CB97D0EF6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41E692E-E7CE-2C4A-2B37-AD67DAE227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B503832-313B-EE27-6CA2-F7B6B8B6FAD5}"/>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5" name="Footer Placeholder 4">
            <a:extLst>
              <a:ext uri="{FF2B5EF4-FFF2-40B4-BE49-F238E27FC236}">
                <a16:creationId xmlns:a16="http://schemas.microsoft.com/office/drawing/2014/main" id="{482A5063-182A-FC4F-A2CB-B34B3F3DC5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DF228F-3A09-CAE3-A15D-48015E3CCEF5}"/>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3384378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49662-9222-0471-3DAD-6F64A51714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627BF0-3E15-21E7-F7AF-68B7CCF4CD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C2EDDB-E2DF-ACE1-DFE0-EB04DB300160}"/>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5" name="Footer Placeholder 4">
            <a:extLst>
              <a:ext uri="{FF2B5EF4-FFF2-40B4-BE49-F238E27FC236}">
                <a16:creationId xmlns:a16="http://schemas.microsoft.com/office/drawing/2014/main" id="{F147DA1B-94B3-7EBF-F5F5-E93E6A2033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43686E-5F27-BA69-C51D-156AD5714B25}"/>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4187093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5E751-DD88-F3EA-BA70-75E2973641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0F52D36-A526-FCC1-54F1-76C8D917AF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CD69A4-DD3E-474E-1954-BC44F37A23C8}"/>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5" name="Footer Placeholder 4">
            <a:extLst>
              <a:ext uri="{FF2B5EF4-FFF2-40B4-BE49-F238E27FC236}">
                <a16:creationId xmlns:a16="http://schemas.microsoft.com/office/drawing/2014/main" id="{7479F369-4725-E537-8DC8-1B88C7F7B3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668ED5-328F-FA4A-D629-8EDC56F56776}"/>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385736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688FD-4C9F-BEED-8AFB-E5386750A6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4C28AE-6F1A-039E-F0C9-769BCD906E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BBDECA5-2632-2CCC-63F0-A31F4A80F1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A8BEB6B-E8C3-53A6-BE34-E18745D16DAB}"/>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6" name="Footer Placeholder 5">
            <a:extLst>
              <a:ext uri="{FF2B5EF4-FFF2-40B4-BE49-F238E27FC236}">
                <a16:creationId xmlns:a16="http://schemas.microsoft.com/office/drawing/2014/main" id="{4C1DCC51-F238-CC20-E620-186DE77209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479178-38E0-367B-2FC8-CCFF1108CB0F}"/>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1620246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EA74A-1C33-BE82-00A5-771C4EE8BB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742A4A-6EE6-63DE-003B-0482F9C4FC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0524A5-C04E-D3AF-59CF-D5AE906A8D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57FF5D6-0502-A0B1-F3A2-9885EDE3E8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35A498-4A26-2F19-4D66-7AF09CAE82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949D478-AD81-8C00-EC55-911EC3AE2D0E}"/>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8" name="Footer Placeholder 7">
            <a:extLst>
              <a:ext uri="{FF2B5EF4-FFF2-40B4-BE49-F238E27FC236}">
                <a16:creationId xmlns:a16="http://schemas.microsoft.com/office/drawing/2014/main" id="{2BB9A51F-9A37-A465-2F77-23ADADE17C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1C7C84-A782-6C8B-C0B8-B10840626811}"/>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2832976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27AB-0B0A-0E59-40A3-888FD0A0453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E800264-6582-6B0E-6539-2ABD2B9DDE0C}"/>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4" name="Footer Placeholder 3">
            <a:extLst>
              <a:ext uri="{FF2B5EF4-FFF2-40B4-BE49-F238E27FC236}">
                <a16:creationId xmlns:a16="http://schemas.microsoft.com/office/drawing/2014/main" id="{12CE32BC-1075-3B24-6DF1-1CB6676B9D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939DD88-7A04-16D5-0327-A9FA824D9268}"/>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4226926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B64B52-8248-79CD-8CCF-169548B17C10}"/>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3" name="Footer Placeholder 2">
            <a:extLst>
              <a:ext uri="{FF2B5EF4-FFF2-40B4-BE49-F238E27FC236}">
                <a16:creationId xmlns:a16="http://schemas.microsoft.com/office/drawing/2014/main" id="{9CE721CE-2439-A5AC-2A1E-87E64C3A92C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B9D7D85-360B-F9D4-1908-A05950FCF04E}"/>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1795600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F38C7-3F06-217D-49DA-947CA7644C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20458E-503A-E84B-AD1E-9A8762AD88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3112F9-F0B8-3D39-0217-8471922708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48453F-C323-4F70-75A7-4001CB88AF81}"/>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6" name="Footer Placeholder 5">
            <a:extLst>
              <a:ext uri="{FF2B5EF4-FFF2-40B4-BE49-F238E27FC236}">
                <a16:creationId xmlns:a16="http://schemas.microsoft.com/office/drawing/2014/main" id="{3BBE2200-72F9-F9CA-1773-3F98AA0D3A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6C1E22-C4E2-E2EA-8265-1752FCEE4A78}"/>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1362001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A488D-054F-6E31-1374-D7E8EFC389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080FA8-1C80-406B-32B0-5A91CAA713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F26A99-FF4B-7CDE-20DA-7194F1EEA4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88FF56-A20A-6F22-3D21-BFC145138D54}"/>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6" name="Footer Placeholder 5">
            <a:extLst>
              <a:ext uri="{FF2B5EF4-FFF2-40B4-BE49-F238E27FC236}">
                <a16:creationId xmlns:a16="http://schemas.microsoft.com/office/drawing/2014/main" id="{BFF425F8-0034-355B-5F38-55733F2252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3CEA28-9673-3BE9-3326-26DF92FF39FA}"/>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3704721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11B99-5901-F0E7-75CA-FCEE286342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412F9B-92C2-8307-E27F-C506E36418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2B3A41-E937-26B0-C4C3-6D125DDF3175}"/>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5" name="Footer Placeholder 4">
            <a:extLst>
              <a:ext uri="{FF2B5EF4-FFF2-40B4-BE49-F238E27FC236}">
                <a16:creationId xmlns:a16="http://schemas.microsoft.com/office/drawing/2014/main" id="{3FFE7E84-EAE2-5980-5CFF-30B66ED7E2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685DFF-F55B-7A12-EB0E-C4DA58D36446}"/>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3735068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188B73-DDF8-3631-E99D-6EA2DD60B2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443C32-80F3-151D-04D3-462FD99460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C62A48-4D03-7824-6DCB-8FAAF40C3020}"/>
              </a:ext>
            </a:extLst>
          </p:cNvPr>
          <p:cNvSpPr>
            <a:spLocks noGrp="1"/>
          </p:cNvSpPr>
          <p:nvPr>
            <p:ph type="dt" sz="half" idx="10"/>
          </p:nvPr>
        </p:nvSpPr>
        <p:spPr/>
        <p:txBody>
          <a:bodyPr/>
          <a:lstStyle/>
          <a:p>
            <a:fld id="{E489DCA4-062A-42F8-BBD5-66939E6554B9}" type="datetimeFigureOut">
              <a:rPr lang="en-IN" smtClean="0"/>
              <a:t>30-04-2025</a:t>
            </a:fld>
            <a:endParaRPr lang="en-IN"/>
          </a:p>
        </p:txBody>
      </p:sp>
      <p:sp>
        <p:nvSpPr>
          <p:cNvPr id="5" name="Footer Placeholder 4">
            <a:extLst>
              <a:ext uri="{FF2B5EF4-FFF2-40B4-BE49-F238E27FC236}">
                <a16:creationId xmlns:a16="http://schemas.microsoft.com/office/drawing/2014/main" id="{5E02B66C-D155-2A32-860B-B871CCB895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8E46D1-81DB-BBF1-5E12-E78D4CF4BBDE}"/>
              </a:ext>
            </a:extLst>
          </p:cNvPr>
          <p:cNvSpPr>
            <a:spLocks noGrp="1"/>
          </p:cNvSpPr>
          <p:nvPr>
            <p:ph type="sldNum" sz="quarter" idx="12"/>
          </p:nvPr>
        </p:nvSpPr>
        <p:spPr/>
        <p:txBody>
          <a:bodyPr/>
          <a:lstStyle/>
          <a:p>
            <a:fld id="{4850FCD7-77C7-4B29-99DF-26A2BAE37263}" type="slidenum">
              <a:rPr lang="en-IN" smtClean="0"/>
              <a:t>‹#›</a:t>
            </a:fld>
            <a:endParaRPr lang="en-IN"/>
          </a:p>
        </p:txBody>
      </p:sp>
    </p:spTree>
    <p:extLst>
      <p:ext uri="{BB962C8B-B14F-4D97-AF65-F5344CB8AC3E}">
        <p14:creationId xmlns:p14="http://schemas.microsoft.com/office/powerpoint/2010/main" val="1817897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5C1E96-83F0-CE7F-4C2D-C386168285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861B1F-FAE7-FA24-6EF5-5FEE75FD56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153027-3ADC-A0A1-E4FE-F5098EBFC1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89DCA4-062A-42F8-BBD5-66939E6554B9}" type="datetimeFigureOut">
              <a:rPr lang="en-IN" smtClean="0"/>
              <a:t>30-04-2025</a:t>
            </a:fld>
            <a:endParaRPr lang="en-IN"/>
          </a:p>
        </p:txBody>
      </p:sp>
      <p:sp>
        <p:nvSpPr>
          <p:cNvPr id="5" name="Footer Placeholder 4">
            <a:extLst>
              <a:ext uri="{FF2B5EF4-FFF2-40B4-BE49-F238E27FC236}">
                <a16:creationId xmlns:a16="http://schemas.microsoft.com/office/drawing/2014/main" id="{26BD71F1-F002-D325-128F-E81DAD09A5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521D1C9-9242-5C58-E9C6-358A5543BC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50FCD7-77C7-4B29-99DF-26A2BAE37263}" type="slidenum">
              <a:rPr lang="en-IN" smtClean="0"/>
              <a:t>‹#›</a:t>
            </a:fld>
            <a:endParaRPr lang="en-IN"/>
          </a:p>
        </p:txBody>
      </p:sp>
    </p:spTree>
    <p:extLst>
      <p:ext uri="{BB962C8B-B14F-4D97-AF65-F5344CB8AC3E}">
        <p14:creationId xmlns:p14="http://schemas.microsoft.com/office/powerpoint/2010/main" val="369689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AD70E47-0880-A067-CF9B-44A67611631B}"/>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802950C-DD16-231A-291D-8AD68941C50F}"/>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44762A3-A88B-4257-339F-DB42A627E76E}"/>
              </a:ext>
            </a:extLst>
          </p:cNvPr>
          <p:cNvSpPr txBox="1"/>
          <p:nvPr/>
        </p:nvSpPr>
        <p:spPr>
          <a:xfrm>
            <a:off x="1778834" y="1693888"/>
            <a:ext cx="8634332" cy="923330"/>
          </a:xfrm>
          <a:prstGeom prst="rect">
            <a:avLst/>
          </a:prstGeom>
          <a:noFill/>
        </p:spPr>
        <p:txBody>
          <a:bodyPr wrap="square" rtlCol="0">
            <a:spAutoFit/>
          </a:bodyPr>
          <a:lstStyle/>
          <a:p>
            <a:pPr algn="ctr"/>
            <a:r>
              <a:rPr lang="en-IN" sz="5400" dirty="0"/>
              <a:t> </a:t>
            </a:r>
            <a:r>
              <a:rPr lang="en-IN" sz="5400" b="1" dirty="0">
                <a:solidFill>
                  <a:srgbClr val="1B263B"/>
                </a:solidFill>
                <a:latin typeface="Calibri bold" panose="020F0702030404030204" pitchFamily="34" charset="0"/>
                <a:ea typeface="Calibri bold" panose="020F0702030404030204" pitchFamily="34" charset="0"/>
                <a:cs typeface="Calibri bold" panose="020F0702030404030204" pitchFamily="34" charset="0"/>
              </a:rPr>
              <a:t>Car Sales Analysis Dashboard</a:t>
            </a:r>
            <a:endParaRPr lang="en-IN" sz="5400" dirty="0">
              <a:solidFill>
                <a:srgbClr val="1B263B"/>
              </a:solidFill>
              <a:latin typeface="Calibri bold" panose="020F0702030404030204" pitchFamily="34" charset="0"/>
              <a:ea typeface="Calibri bold" panose="020F0702030404030204" pitchFamily="34" charset="0"/>
              <a:cs typeface="Calibri bold" panose="020F0702030404030204" pitchFamily="34" charset="0"/>
            </a:endParaRPr>
          </a:p>
        </p:txBody>
      </p:sp>
      <p:sp>
        <p:nvSpPr>
          <p:cNvPr id="8" name="TextBox 7">
            <a:extLst>
              <a:ext uri="{FF2B5EF4-FFF2-40B4-BE49-F238E27FC236}">
                <a16:creationId xmlns:a16="http://schemas.microsoft.com/office/drawing/2014/main" id="{ABA21F6D-D74F-0C27-A42E-0160341B7E8E}"/>
              </a:ext>
            </a:extLst>
          </p:cNvPr>
          <p:cNvSpPr txBox="1"/>
          <p:nvPr/>
        </p:nvSpPr>
        <p:spPr>
          <a:xfrm>
            <a:off x="1778834" y="3163565"/>
            <a:ext cx="8634332" cy="1077218"/>
          </a:xfrm>
          <a:prstGeom prst="rect">
            <a:avLst/>
          </a:prstGeom>
          <a:noFill/>
        </p:spPr>
        <p:txBody>
          <a:bodyPr wrap="square" rtlCol="0">
            <a:spAutoFit/>
          </a:bodyPr>
          <a:lstStyle/>
          <a:p>
            <a:pPr algn="ctr"/>
            <a:r>
              <a:rPr lang="en-US" sz="3200" dirty="0">
                <a:solidFill>
                  <a:srgbClr val="C00000"/>
                </a:solidFill>
                <a:latin typeface="Calibri bold" panose="020F0702030404030204" pitchFamily="34" charset="0"/>
                <a:ea typeface="Calibri bold" panose="020F0702030404030204" pitchFamily="34" charset="0"/>
                <a:cs typeface="Calibri bold" panose="020F0702030404030204" pitchFamily="34" charset="0"/>
              </a:rPr>
              <a:t>A Power BI Project – Data-Driven Insights for Automotive Growth</a:t>
            </a:r>
            <a:endParaRPr lang="en-IN" sz="3200" dirty="0">
              <a:solidFill>
                <a:srgbClr val="C00000"/>
              </a:solidFill>
              <a:latin typeface="Calibri bold" panose="020F0702030404030204" pitchFamily="34" charset="0"/>
              <a:ea typeface="Calibri bold" panose="020F0702030404030204" pitchFamily="34" charset="0"/>
              <a:cs typeface="Calibri bold" panose="020F0702030404030204" pitchFamily="34" charset="0"/>
            </a:endParaRPr>
          </a:p>
        </p:txBody>
      </p:sp>
      <p:sp>
        <p:nvSpPr>
          <p:cNvPr id="9" name="TextBox 8">
            <a:extLst>
              <a:ext uri="{FF2B5EF4-FFF2-40B4-BE49-F238E27FC236}">
                <a16:creationId xmlns:a16="http://schemas.microsoft.com/office/drawing/2014/main" id="{38E49BF1-F27C-7C58-2E59-CD8F725846D0}"/>
              </a:ext>
            </a:extLst>
          </p:cNvPr>
          <p:cNvSpPr txBox="1"/>
          <p:nvPr/>
        </p:nvSpPr>
        <p:spPr>
          <a:xfrm>
            <a:off x="8800476" y="4933279"/>
            <a:ext cx="3225380" cy="461665"/>
          </a:xfrm>
          <a:prstGeom prst="rect">
            <a:avLst/>
          </a:prstGeom>
          <a:noFill/>
        </p:spPr>
        <p:txBody>
          <a:bodyPr wrap="square" rtlCol="0">
            <a:spAutoFit/>
          </a:bodyPr>
          <a:lstStyle/>
          <a:p>
            <a:r>
              <a:rPr lang="en-IN" sz="2400" dirty="0">
                <a:latin typeface="Calibri bold" panose="020F0702030404030204" pitchFamily="34" charset="0"/>
                <a:ea typeface="Calibri bold" panose="020F0702030404030204" pitchFamily="34" charset="0"/>
                <a:cs typeface="Calibri bold" panose="020F0702030404030204" pitchFamily="34" charset="0"/>
              </a:rPr>
              <a:t>- By Riya Nemade</a:t>
            </a:r>
            <a:endParaRPr lang="en-IN" dirty="0">
              <a:latin typeface="Calibri bold" panose="020F0702030404030204" pitchFamily="34" charset="0"/>
              <a:ea typeface="Calibri bold" panose="020F0702030404030204" pitchFamily="34" charset="0"/>
              <a:cs typeface="Calibri bold" panose="020F0702030404030204" pitchFamily="34" charset="0"/>
            </a:endParaRPr>
          </a:p>
        </p:txBody>
      </p:sp>
    </p:spTree>
    <p:extLst>
      <p:ext uri="{BB962C8B-B14F-4D97-AF65-F5344CB8AC3E}">
        <p14:creationId xmlns:p14="http://schemas.microsoft.com/office/powerpoint/2010/main" val="1030728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52D693A8-6A5C-3536-9DAD-9734C94A62B4}"/>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4EB40DD0-D5CB-D18E-FDC9-79378F27DE85}"/>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466E24A-B616-E557-332B-5ED8717FFBAE}"/>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8E45416-7203-32E4-C789-2B0A27F0088F}"/>
              </a:ext>
            </a:extLst>
          </p:cNvPr>
          <p:cNvSpPr txBox="1"/>
          <p:nvPr/>
        </p:nvSpPr>
        <p:spPr>
          <a:xfrm>
            <a:off x="1766834" y="532071"/>
            <a:ext cx="8634332" cy="584775"/>
          </a:xfrm>
          <a:prstGeom prst="rect">
            <a:avLst/>
          </a:prstGeom>
          <a:noFill/>
        </p:spPr>
        <p:txBody>
          <a:bodyPr wrap="square" rtlCol="0">
            <a:spAutoFit/>
          </a:bodyPr>
          <a:lstStyle/>
          <a:p>
            <a:pPr algn="ct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Project Objective &amp; Tools</a:t>
            </a:r>
          </a:p>
        </p:txBody>
      </p:sp>
      <p:sp>
        <p:nvSpPr>
          <p:cNvPr id="8" name="TextBox 7">
            <a:extLst>
              <a:ext uri="{FF2B5EF4-FFF2-40B4-BE49-F238E27FC236}">
                <a16:creationId xmlns:a16="http://schemas.microsoft.com/office/drawing/2014/main" id="{5320E87F-046A-0A8F-A3C5-86CC2CC35079}"/>
              </a:ext>
            </a:extLst>
          </p:cNvPr>
          <p:cNvSpPr txBox="1"/>
          <p:nvPr/>
        </p:nvSpPr>
        <p:spPr>
          <a:xfrm>
            <a:off x="934389" y="1674674"/>
            <a:ext cx="10790411" cy="1754326"/>
          </a:xfrm>
          <a:prstGeom prst="rect">
            <a:avLst/>
          </a:prstGeom>
          <a:noFill/>
        </p:spPr>
        <p:txBody>
          <a:bodyPr wrap="square" rtlCol="0">
            <a:spAutoFit/>
          </a:bodyPr>
          <a:lstStyle/>
          <a:p>
            <a:r>
              <a:rPr lang="en-IN" sz="2800" dirty="0">
                <a:latin typeface="Calibri bold" panose="020F0702030404030204" pitchFamily="34" charset="0"/>
                <a:ea typeface="Calibri bold" panose="020F0702030404030204" pitchFamily="34" charset="0"/>
                <a:cs typeface="Calibri bold" panose="020F0702030404030204" pitchFamily="34" charset="0"/>
              </a:rPr>
              <a:t>🎯 </a:t>
            </a:r>
            <a:r>
              <a:rPr lang="en-US" sz="2800" dirty="0">
                <a:solidFill>
                  <a:schemeClr val="accent2">
                    <a:lumMod val="50000"/>
                  </a:schemeClr>
                </a:solidFill>
                <a:latin typeface="Calibri bold" panose="020F0702030404030204" pitchFamily="34" charset="0"/>
                <a:ea typeface="Calibri bold" panose="020F0702030404030204" pitchFamily="34" charset="0"/>
                <a:cs typeface="Calibri bold" panose="020F0702030404030204" pitchFamily="34" charset="0"/>
              </a:rPr>
              <a:t>Objective:</a:t>
            </a:r>
          </a:p>
          <a:p>
            <a:pPr algn="just"/>
            <a:r>
              <a:rPr lang="en-US" sz="2000" dirty="0"/>
              <a:t>		The objective of this dashboard is to analyze year-to-date car sales to uncover performance trends, evaluate sales by brand, region, body type, and customer preference. The dashboard provides actionable insights to help improve dealership targeting, optimize inventory, and boost profitability.</a:t>
            </a:r>
            <a:endParaRPr lang="en-IN" sz="2000" dirty="0">
              <a:solidFill>
                <a:schemeClr val="accent2">
                  <a:lumMod val="50000"/>
                </a:schemeClr>
              </a:solidFill>
              <a:ea typeface="Calibri bold" panose="020F0702030404030204" pitchFamily="34" charset="0"/>
              <a:cs typeface="Calibri bold" panose="020F0702030404030204" pitchFamily="34" charset="0"/>
            </a:endParaRPr>
          </a:p>
        </p:txBody>
      </p:sp>
      <p:sp>
        <p:nvSpPr>
          <p:cNvPr id="2" name="TextBox 1">
            <a:extLst>
              <a:ext uri="{FF2B5EF4-FFF2-40B4-BE49-F238E27FC236}">
                <a16:creationId xmlns:a16="http://schemas.microsoft.com/office/drawing/2014/main" id="{2F366AE6-21B8-EC12-1CE1-61622BBF3C23}"/>
              </a:ext>
            </a:extLst>
          </p:cNvPr>
          <p:cNvSpPr txBox="1"/>
          <p:nvPr/>
        </p:nvSpPr>
        <p:spPr>
          <a:xfrm>
            <a:off x="934389" y="4288624"/>
            <a:ext cx="10790411" cy="954107"/>
          </a:xfrm>
          <a:prstGeom prst="rect">
            <a:avLst/>
          </a:prstGeom>
          <a:noFill/>
        </p:spPr>
        <p:txBody>
          <a:bodyPr wrap="square" rtlCol="0">
            <a:spAutoFit/>
          </a:bodyPr>
          <a:lstStyle/>
          <a:p>
            <a:r>
              <a:rPr lang="en-IN" sz="2800" dirty="0"/>
              <a:t>🛠️</a:t>
            </a:r>
            <a:r>
              <a:rPr lang="en-IN" sz="2800" dirty="0">
                <a:solidFill>
                  <a:schemeClr val="accent2">
                    <a:lumMod val="50000"/>
                  </a:schemeClr>
                </a:solidFill>
                <a:latin typeface="Calibri bold" panose="020F0702030404030204" pitchFamily="34" charset="0"/>
                <a:ea typeface="Calibri bold" panose="020F0702030404030204" pitchFamily="34" charset="0"/>
                <a:cs typeface="Calibri bold" panose="020F0702030404030204" pitchFamily="34" charset="0"/>
              </a:rPr>
              <a:t>Tools:</a:t>
            </a:r>
          </a:p>
          <a:p>
            <a:r>
              <a:rPr lang="en-IN" sz="2800" dirty="0">
                <a:solidFill>
                  <a:schemeClr val="accent2">
                    <a:lumMod val="50000"/>
                  </a:schemeClr>
                </a:solidFill>
                <a:latin typeface="Calibri bold" panose="020F0702030404030204" pitchFamily="34" charset="0"/>
                <a:ea typeface="Calibri bold" panose="020F0702030404030204" pitchFamily="34" charset="0"/>
                <a:cs typeface="Calibri bold" panose="020F0702030404030204" pitchFamily="34" charset="0"/>
              </a:rPr>
              <a:t>	</a:t>
            </a:r>
            <a:r>
              <a:rPr lang="en-US" sz="2000" dirty="0"/>
              <a:t>Power BI | Power Query | DAX | Excel</a:t>
            </a:r>
            <a:endParaRPr lang="en-IN" sz="2000" dirty="0">
              <a:solidFill>
                <a:schemeClr val="accent2">
                  <a:lumMod val="50000"/>
                </a:schemeClr>
              </a:solidFill>
              <a:latin typeface="Calibri bold" panose="020F0702030404030204" pitchFamily="34" charset="0"/>
              <a:ea typeface="Calibri bold" panose="020F0702030404030204" pitchFamily="34" charset="0"/>
              <a:cs typeface="Calibri bold" panose="020F0702030404030204" pitchFamily="34" charset="0"/>
            </a:endParaRPr>
          </a:p>
        </p:txBody>
      </p:sp>
    </p:spTree>
    <p:extLst>
      <p:ext uri="{BB962C8B-B14F-4D97-AF65-F5344CB8AC3E}">
        <p14:creationId xmlns:p14="http://schemas.microsoft.com/office/powerpoint/2010/main" val="2785472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5A0E9DF9-CCC6-AA8A-88EA-905FB5E2A03A}"/>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29204C6-639A-3F4E-807F-7EBB66491250}"/>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8863A8C-FDEB-DE40-201E-5EC8F45EFB56}"/>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6BDEFDF-391D-5B42-7C9A-4FC60D27D335}"/>
              </a:ext>
            </a:extLst>
          </p:cNvPr>
          <p:cNvSpPr txBox="1"/>
          <p:nvPr/>
        </p:nvSpPr>
        <p:spPr>
          <a:xfrm>
            <a:off x="1766834" y="532071"/>
            <a:ext cx="8634332" cy="584775"/>
          </a:xfrm>
          <a:prstGeom prst="rect">
            <a:avLst/>
          </a:prstGeom>
          <a:noFill/>
        </p:spPr>
        <p:txBody>
          <a:bodyPr wrap="square" rtlCol="0">
            <a:spAutoFit/>
          </a:bodyPr>
          <a:lstStyle/>
          <a:p>
            <a:pPr algn="ct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Business Problems </a:t>
            </a:r>
          </a:p>
        </p:txBody>
      </p:sp>
      <p:sp>
        <p:nvSpPr>
          <p:cNvPr id="3" name="Rectangle 1">
            <a:extLst>
              <a:ext uri="{FF2B5EF4-FFF2-40B4-BE49-F238E27FC236}">
                <a16:creationId xmlns:a16="http://schemas.microsoft.com/office/drawing/2014/main" id="{41EA46A9-5191-6471-7917-8420EB5AD655}"/>
              </a:ext>
            </a:extLst>
          </p:cNvPr>
          <p:cNvSpPr>
            <a:spLocks noChangeArrowheads="1"/>
          </p:cNvSpPr>
          <p:nvPr/>
        </p:nvSpPr>
        <p:spPr bwMode="auto">
          <a:xfrm>
            <a:off x="1076279" y="1608335"/>
            <a:ext cx="6090129" cy="2352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i="0" u="none" strike="noStrike" cap="none" normalizeH="0" baseline="0" dirty="0">
                <a:ln>
                  <a:noFill/>
                </a:ln>
                <a:solidFill>
                  <a:schemeClr val="tx1"/>
                </a:solidFill>
                <a:effectLst/>
              </a:rPr>
              <a:t>Which car brands generate the most sales?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i="0" u="none" strike="noStrike" cap="none" normalizeH="0" baseline="0" dirty="0">
                <a:ln>
                  <a:noFill/>
                </a:ln>
                <a:solidFill>
                  <a:schemeClr val="tx1"/>
                </a:solidFill>
                <a:effectLst/>
              </a:rPr>
              <a:t>Which body styles and colors are most preferred?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i="0" u="none" strike="noStrike" cap="none" normalizeH="0" baseline="0" dirty="0">
                <a:ln>
                  <a:noFill/>
                </a:ln>
                <a:solidFill>
                  <a:schemeClr val="tx1"/>
                </a:solidFill>
                <a:effectLst/>
              </a:rPr>
              <a:t>Which regions have the highest car sales?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i="0" u="none" strike="noStrike" cap="none" normalizeH="0" baseline="0" dirty="0">
                <a:ln>
                  <a:noFill/>
                </a:ln>
                <a:solidFill>
                  <a:schemeClr val="tx1"/>
                </a:solidFill>
                <a:effectLst/>
              </a:rPr>
              <a:t>What are the average price and units sold per brand?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i="0" u="none" strike="noStrike" cap="none" normalizeH="0" baseline="0" dirty="0">
                <a:ln>
                  <a:noFill/>
                </a:ln>
                <a:solidFill>
                  <a:schemeClr val="tx1"/>
                </a:solidFill>
                <a:effectLst/>
              </a:rPr>
              <a:t>What are weekly sales trends telling us?</a:t>
            </a:r>
          </a:p>
        </p:txBody>
      </p:sp>
    </p:spTree>
    <p:extLst>
      <p:ext uri="{BB962C8B-B14F-4D97-AF65-F5344CB8AC3E}">
        <p14:creationId xmlns:p14="http://schemas.microsoft.com/office/powerpoint/2010/main" val="114676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4374C2B1-213B-2343-D62D-893AFE585E7D}"/>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5EDB176-52D1-43E8-F516-DDB1438F65CF}"/>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BBB6C56-537C-136D-02B3-A5D3BACD8A62}"/>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00684DB-C06D-C04C-D168-5663F1793386}"/>
              </a:ext>
            </a:extLst>
          </p:cNvPr>
          <p:cNvSpPr txBox="1"/>
          <p:nvPr/>
        </p:nvSpPr>
        <p:spPr>
          <a:xfrm>
            <a:off x="1778834" y="532071"/>
            <a:ext cx="8634332" cy="584775"/>
          </a:xfrm>
          <a:prstGeom prst="rect">
            <a:avLst/>
          </a:prstGeom>
          <a:noFill/>
        </p:spPr>
        <p:txBody>
          <a:bodyPr wrap="square" rtlCol="0">
            <a:spAutoFit/>
          </a:bodyPr>
          <a:lstStyle/>
          <a:p>
            <a:pPr algn="ct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 Year-to-Date KPI Summary</a:t>
            </a:r>
          </a:p>
        </p:txBody>
      </p:sp>
      <p:sp>
        <p:nvSpPr>
          <p:cNvPr id="2" name="TextBox 1">
            <a:extLst>
              <a:ext uri="{FF2B5EF4-FFF2-40B4-BE49-F238E27FC236}">
                <a16:creationId xmlns:a16="http://schemas.microsoft.com/office/drawing/2014/main" id="{B5A1E26D-1619-8AAA-F1A7-4010ADBBA0EC}"/>
              </a:ext>
            </a:extLst>
          </p:cNvPr>
          <p:cNvSpPr txBox="1"/>
          <p:nvPr/>
        </p:nvSpPr>
        <p:spPr>
          <a:xfrm>
            <a:off x="620590" y="2413416"/>
            <a:ext cx="6324842" cy="4708981"/>
          </a:xfrm>
          <a:prstGeom prst="rect">
            <a:avLst/>
          </a:prstGeom>
          <a:noFill/>
        </p:spPr>
        <p:txBody>
          <a:bodyPr wrap="square" rtlCol="0">
            <a:spAutoFit/>
          </a:bodyPr>
          <a:lstStyle/>
          <a:p>
            <a:r>
              <a:rPr lang="en-IN" sz="2400" dirty="0">
                <a:solidFill>
                  <a:schemeClr val="tx2">
                    <a:lumMod val="75000"/>
                  </a:schemeClr>
                </a:solidFill>
                <a:latin typeface="Calibri bold" panose="020F0702030404030204" pitchFamily="34" charset="0"/>
                <a:ea typeface="Calibri bold" panose="020F0702030404030204" pitchFamily="34" charset="0"/>
                <a:cs typeface="Calibri bold" panose="020F0702030404030204" pitchFamily="34" charset="0"/>
              </a:rPr>
              <a:t>DAX Formula</a:t>
            </a:r>
          </a:p>
          <a:p>
            <a:pPr algn="just"/>
            <a:r>
              <a:rPr lang="en-IN" dirty="0"/>
              <a:t>💰 </a:t>
            </a:r>
            <a:r>
              <a:rPr lang="en-US" b="0" dirty="0">
                <a:solidFill>
                  <a:srgbClr val="000000"/>
                </a:solidFill>
                <a:effectLst/>
                <a:latin typeface="Consolas" panose="020B0609020204030204" pitchFamily="49" charset="0"/>
              </a:rPr>
              <a:t>YTD Total Sales = 		</a:t>
            </a:r>
            <a:r>
              <a:rPr lang="en-US" b="0" dirty="0">
                <a:solidFill>
                  <a:srgbClr val="3165BB"/>
                </a:solidFill>
                <a:effectLst/>
                <a:latin typeface="Consolas" panose="020B0609020204030204" pitchFamily="49" charset="0"/>
              </a:rPr>
              <a:t>TOTALYTD</a:t>
            </a:r>
            <a:r>
              <a:rPr lang="en-US" b="0" dirty="0">
                <a:solidFill>
                  <a:srgbClr val="000000"/>
                </a:solidFill>
                <a:effectLst/>
                <a:latin typeface="Consolas" panose="020B0609020204030204" pitchFamily="49" charset="0"/>
              </a:rPr>
              <a:t>(</a:t>
            </a:r>
            <a:r>
              <a:rPr lang="en-US" b="0" dirty="0">
                <a:solidFill>
                  <a:srgbClr val="3165BB"/>
                </a:solidFill>
                <a:effectLst/>
                <a:latin typeface="Consolas" panose="020B0609020204030204" pitchFamily="49" charset="0"/>
              </a:rPr>
              <a:t>SUM</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car_data</a:t>
            </a:r>
            <a:r>
              <a:rPr lang="en-US" b="0" dirty="0">
                <a:solidFill>
                  <a:srgbClr val="001080"/>
                </a:solidFill>
                <a:effectLst/>
                <a:latin typeface="Consolas" panose="020B0609020204030204" pitchFamily="49" charset="0"/>
              </a:rPr>
              <a:t>[Price($)]</a:t>
            </a:r>
            <a:r>
              <a:rPr lang="en-US" b="0" dirty="0">
                <a:solidFill>
                  <a:srgbClr val="000000"/>
                </a:solidFill>
                <a:effectLst/>
                <a:latin typeface="Consolas" panose="020B0609020204030204" pitchFamily="49" charset="0"/>
              </a:rPr>
              <a:t>),</a:t>
            </a:r>
          </a:p>
          <a:p>
            <a:pPr algn="just"/>
            <a:r>
              <a:rPr lang="en-US" b="0" dirty="0">
                <a:solidFill>
                  <a:srgbClr val="001080"/>
                </a:solidFill>
                <a:effectLst/>
                <a:latin typeface="Consolas" panose="020B0609020204030204" pitchFamily="49" charset="0"/>
              </a:rPr>
              <a:t>'Calendar'[Date]</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IN" dirty="0"/>
              <a:t>📈 </a:t>
            </a:r>
            <a:r>
              <a:rPr lang="en-US" b="0" dirty="0">
                <a:solidFill>
                  <a:srgbClr val="000000"/>
                </a:solidFill>
                <a:effectLst/>
              </a:rPr>
              <a:t>YOY Sales Growth = </a:t>
            </a:r>
          </a:p>
          <a:p>
            <a:r>
              <a:rPr lang="en-US" dirty="0">
                <a:solidFill>
                  <a:srgbClr val="000000"/>
                </a:solidFill>
              </a:rPr>
              <a:t>	</a:t>
            </a:r>
            <a:r>
              <a:rPr lang="en-US" b="0" dirty="0">
                <a:solidFill>
                  <a:srgbClr val="68349C"/>
                </a:solidFill>
                <a:effectLst/>
              </a:rPr>
              <a:t>[Sales Difference]</a:t>
            </a:r>
            <a:r>
              <a:rPr lang="en-US" b="0" dirty="0">
                <a:solidFill>
                  <a:srgbClr val="000000"/>
                </a:solidFill>
                <a:effectLst/>
              </a:rPr>
              <a:t>/</a:t>
            </a:r>
            <a:r>
              <a:rPr lang="en-US" b="0" dirty="0">
                <a:solidFill>
                  <a:srgbClr val="68349C"/>
                </a:solidFill>
                <a:effectLst/>
              </a:rPr>
              <a:t>[PYTD Total Sales]</a:t>
            </a:r>
          </a:p>
          <a:p>
            <a:endParaRPr lang="en-US" dirty="0">
              <a:solidFill>
                <a:srgbClr val="68349C"/>
              </a:solidFill>
            </a:endParaRPr>
          </a:p>
          <a:p>
            <a:r>
              <a:rPr lang="en-IN" dirty="0"/>
              <a:t>⚖️ </a:t>
            </a:r>
            <a:r>
              <a:rPr lang="en-US" b="0" dirty="0">
                <a:solidFill>
                  <a:srgbClr val="000000"/>
                </a:solidFill>
                <a:effectLst/>
                <a:latin typeface="Consolas" panose="020B0609020204030204" pitchFamily="49" charset="0"/>
              </a:rPr>
              <a:t>Sales Difference =</a:t>
            </a:r>
          </a:p>
          <a:p>
            <a:r>
              <a:rPr lang="en-US" dirty="0">
                <a:solidFill>
                  <a:srgbClr val="000000"/>
                </a:solidFill>
                <a:latin typeface="Consolas" panose="020B0609020204030204" pitchFamily="49" charset="0"/>
              </a:rPr>
              <a:t>	</a:t>
            </a:r>
            <a:r>
              <a:rPr lang="en-US" b="0" dirty="0">
                <a:solidFill>
                  <a:srgbClr val="68349C"/>
                </a:solidFill>
                <a:effectLst/>
                <a:latin typeface="Consolas" panose="020B0609020204030204" pitchFamily="49" charset="0"/>
              </a:rPr>
              <a:t>[YTD Total Sales]</a:t>
            </a:r>
            <a:r>
              <a:rPr lang="en-US" b="0" dirty="0">
                <a:solidFill>
                  <a:srgbClr val="000000"/>
                </a:solidFill>
                <a:effectLst/>
                <a:latin typeface="Consolas" panose="020B0609020204030204" pitchFamily="49" charset="0"/>
              </a:rPr>
              <a:t>-</a:t>
            </a:r>
            <a:r>
              <a:rPr lang="en-US" b="0" dirty="0">
                <a:solidFill>
                  <a:srgbClr val="68349C"/>
                </a:solidFill>
                <a:effectLst/>
                <a:latin typeface="Consolas" panose="020B0609020204030204" pitchFamily="49" charset="0"/>
              </a:rPr>
              <a:t>[PYTD Total Sales]</a:t>
            </a:r>
            <a:endParaRPr lang="en-US" b="0" dirty="0">
              <a:solidFill>
                <a:srgbClr val="000000"/>
              </a:solidFill>
              <a:effectLst/>
              <a:latin typeface="Consolas" panose="020B0609020204030204" pitchFamily="49" charset="0"/>
            </a:endParaRPr>
          </a:p>
          <a:p>
            <a:endParaRPr lang="en-US" b="0" dirty="0">
              <a:solidFill>
                <a:srgbClr val="68349C"/>
              </a:solidFill>
              <a:effectLst/>
            </a:endParaRPr>
          </a:p>
          <a:p>
            <a:endParaRPr lang="en-US" dirty="0">
              <a:solidFill>
                <a:srgbClr val="68349C"/>
              </a:solidFill>
            </a:endParaRPr>
          </a:p>
          <a:p>
            <a:r>
              <a:rPr lang="en-IN" dirty="0"/>
              <a:t>📅 </a:t>
            </a:r>
            <a:r>
              <a:rPr lang="en-US" b="0" dirty="0">
                <a:solidFill>
                  <a:srgbClr val="000000"/>
                </a:solidFill>
                <a:effectLst/>
                <a:latin typeface="Consolas" panose="020B0609020204030204" pitchFamily="49" charset="0"/>
              </a:rPr>
              <a:t>MTD Sales = </a:t>
            </a:r>
            <a:r>
              <a:rPr lang="en-US" b="0" dirty="0">
                <a:solidFill>
                  <a:srgbClr val="3165BB"/>
                </a:solidFill>
                <a:effectLst/>
                <a:latin typeface="Consolas" panose="020B0609020204030204" pitchFamily="49" charset="0"/>
              </a:rPr>
              <a:t>TOTALMTD</a:t>
            </a:r>
            <a:r>
              <a:rPr lang="en-US" b="0" dirty="0">
                <a:solidFill>
                  <a:srgbClr val="000000"/>
                </a:solidFill>
                <a:effectLst/>
                <a:latin typeface="Consolas" panose="020B0609020204030204" pitchFamily="49" charset="0"/>
              </a:rPr>
              <a:t>(</a:t>
            </a:r>
            <a:r>
              <a:rPr lang="en-US" b="0" dirty="0">
                <a:solidFill>
                  <a:srgbClr val="3165BB"/>
                </a:solidFill>
                <a:effectLst/>
                <a:latin typeface="Consolas" panose="020B0609020204030204" pitchFamily="49" charset="0"/>
              </a:rPr>
              <a:t>SUM</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car_data</a:t>
            </a:r>
            <a:r>
              <a:rPr lang="en-US" b="0" dirty="0">
                <a:solidFill>
                  <a:srgbClr val="001080"/>
                </a:solidFill>
                <a:effectLst/>
                <a:latin typeface="Consolas" panose="020B0609020204030204" pitchFamily="49" charset="0"/>
              </a:rPr>
              <a:t>[Price ($)]</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'Calendar'[Date]</a:t>
            </a:r>
            <a:r>
              <a:rPr lang="en-US" b="0" dirty="0">
                <a:solidFill>
                  <a:srgbClr val="000000"/>
                </a:solidFill>
                <a:effectLst/>
                <a:latin typeface="Consolas" panose="020B0609020204030204" pitchFamily="49" charset="0"/>
              </a:rPr>
              <a:t>)</a:t>
            </a:r>
          </a:p>
          <a:p>
            <a:endParaRPr lang="en-US" b="0" dirty="0">
              <a:solidFill>
                <a:srgbClr val="000000"/>
              </a:solidFill>
              <a:effectLst/>
            </a:endParaRPr>
          </a:p>
          <a:p>
            <a:endParaRPr lang="en-IN" sz="2400" dirty="0">
              <a:solidFill>
                <a:srgbClr val="C00000"/>
              </a:solidFill>
              <a:latin typeface="Calibri bold" panose="020F0702030404030204" pitchFamily="34" charset="0"/>
              <a:ea typeface="Calibri bold" panose="020F0702030404030204" pitchFamily="34" charset="0"/>
              <a:cs typeface="Calibri bold" panose="020F0702030404030204" pitchFamily="34" charset="0"/>
            </a:endParaRPr>
          </a:p>
        </p:txBody>
      </p:sp>
      <p:pic>
        <p:nvPicPr>
          <p:cNvPr id="8" name="Picture 7">
            <a:extLst>
              <a:ext uri="{FF2B5EF4-FFF2-40B4-BE49-F238E27FC236}">
                <a16:creationId xmlns:a16="http://schemas.microsoft.com/office/drawing/2014/main" id="{6AA24939-4912-F1F2-2ABF-D445B211E9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1141" y="1304317"/>
            <a:ext cx="8049718" cy="1109099"/>
          </a:xfrm>
          <a:prstGeom prst="rect">
            <a:avLst/>
          </a:prstGeom>
        </p:spPr>
      </p:pic>
      <p:sp>
        <p:nvSpPr>
          <p:cNvPr id="12" name="Rectangle: Rounded Corners 11">
            <a:extLst>
              <a:ext uri="{FF2B5EF4-FFF2-40B4-BE49-F238E27FC236}">
                <a16:creationId xmlns:a16="http://schemas.microsoft.com/office/drawing/2014/main" id="{F658A385-7218-3619-B514-170C4DF9A4F5}"/>
              </a:ext>
            </a:extLst>
          </p:cNvPr>
          <p:cNvSpPr/>
          <p:nvPr/>
        </p:nvSpPr>
        <p:spPr>
          <a:xfrm>
            <a:off x="7098827" y="3057995"/>
            <a:ext cx="5069173" cy="2773179"/>
          </a:xfrm>
          <a:prstGeom prst="roundRect">
            <a:avLst/>
          </a:prstGeom>
          <a:solidFill>
            <a:srgbClr val="DD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tx1">
                    <a:lumMod val="95000"/>
                    <a:lumOff val="5000"/>
                  </a:schemeClr>
                </a:solidFill>
                <a:latin typeface="Calibri bold" panose="020F0702030404030204" pitchFamily="34" charset="0"/>
                <a:ea typeface="Calibri bold" panose="020F0702030404030204" pitchFamily="34" charset="0"/>
                <a:cs typeface="Calibri bold" panose="020F0702030404030204" pitchFamily="34" charset="0"/>
              </a:rPr>
              <a:t>Insights:</a:t>
            </a:r>
            <a:r>
              <a:rPr lang="en-US" dirty="0"/>
              <a:t>  </a:t>
            </a:r>
            <a:r>
              <a:rPr lang="en-US" sz="2000" dirty="0">
                <a:solidFill>
                  <a:schemeClr val="tx1">
                    <a:lumMod val="95000"/>
                    <a:lumOff val="5000"/>
                  </a:schemeClr>
                </a:solidFill>
              </a:rPr>
              <a:t>YTD Sales reached $371.2M with a 23.59% increase from last year and sale difference is 70.84M of previous Year — reflecting strong growth momentum in the automotive sector.”</a:t>
            </a:r>
            <a:endParaRPr lang="en-IN" dirty="0">
              <a:solidFill>
                <a:schemeClr val="tx1">
                  <a:lumMod val="95000"/>
                  <a:lumOff val="5000"/>
                </a:schemeClr>
              </a:solidFill>
            </a:endParaRPr>
          </a:p>
        </p:txBody>
      </p:sp>
    </p:spTree>
    <p:extLst>
      <p:ext uri="{BB962C8B-B14F-4D97-AF65-F5344CB8AC3E}">
        <p14:creationId xmlns:p14="http://schemas.microsoft.com/office/powerpoint/2010/main" val="2892388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4C960B5D-F537-8776-D50B-CF339BC53842}"/>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0E8B605-E93D-D762-61DF-C952B1BF879F}"/>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0ED180A-9A75-5202-9D56-3AD491591E11}"/>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8D2EA9A-66EC-C8A8-6879-D837E145E546}"/>
              </a:ext>
            </a:extLst>
          </p:cNvPr>
          <p:cNvSpPr txBox="1"/>
          <p:nvPr/>
        </p:nvSpPr>
        <p:spPr>
          <a:xfrm>
            <a:off x="1778834" y="532071"/>
            <a:ext cx="8634332" cy="584775"/>
          </a:xfrm>
          <a:prstGeom prst="rect">
            <a:avLst/>
          </a:prstGeom>
          <a:noFill/>
        </p:spPr>
        <p:txBody>
          <a:bodyPr wrap="square" rtlCol="0">
            <a:spAutoFit/>
          </a:bodyPr>
          <a:lstStyle/>
          <a:p>
            <a:pPr algn="ct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 Year-to-Date KPI Summary</a:t>
            </a:r>
          </a:p>
        </p:txBody>
      </p:sp>
      <p:sp>
        <p:nvSpPr>
          <p:cNvPr id="2" name="TextBox 1">
            <a:extLst>
              <a:ext uri="{FF2B5EF4-FFF2-40B4-BE49-F238E27FC236}">
                <a16:creationId xmlns:a16="http://schemas.microsoft.com/office/drawing/2014/main" id="{792EB929-C203-952A-77C8-AFE25D1D633B}"/>
              </a:ext>
            </a:extLst>
          </p:cNvPr>
          <p:cNvSpPr txBox="1"/>
          <p:nvPr/>
        </p:nvSpPr>
        <p:spPr>
          <a:xfrm>
            <a:off x="620590" y="2413416"/>
            <a:ext cx="6324842" cy="4508927"/>
          </a:xfrm>
          <a:prstGeom prst="rect">
            <a:avLst/>
          </a:prstGeom>
          <a:noFill/>
        </p:spPr>
        <p:txBody>
          <a:bodyPr wrap="square" rtlCol="0">
            <a:spAutoFit/>
          </a:bodyPr>
          <a:lstStyle/>
          <a:p>
            <a:r>
              <a:rPr lang="en-IN" sz="2400" dirty="0">
                <a:solidFill>
                  <a:schemeClr val="tx2">
                    <a:lumMod val="75000"/>
                  </a:schemeClr>
                </a:solidFill>
                <a:latin typeface="Calibri bold" panose="020F0702030404030204" pitchFamily="34" charset="0"/>
                <a:ea typeface="Calibri bold" panose="020F0702030404030204" pitchFamily="34" charset="0"/>
                <a:cs typeface="Calibri bold" panose="020F0702030404030204" pitchFamily="34" charset="0"/>
              </a:rPr>
              <a:t>DAX Formula</a:t>
            </a:r>
          </a:p>
          <a:p>
            <a:pPr>
              <a:lnSpc>
                <a:spcPts val="1875"/>
              </a:lnSpc>
            </a:pPr>
            <a:r>
              <a:rPr lang="en-IN" dirty="0"/>
              <a:t>💵 </a:t>
            </a:r>
            <a:r>
              <a:rPr lang="en-US" b="0" dirty="0">
                <a:solidFill>
                  <a:srgbClr val="000000"/>
                </a:solidFill>
                <a:effectLst/>
                <a:latin typeface="Consolas" panose="020B0609020204030204" pitchFamily="49" charset="0"/>
              </a:rPr>
              <a:t>YTD Avg Price = </a:t>
            </a:r>
          </a:p>
          <a:p>
            <a:pPr>
              <a:lnSpc>
                <a:spcPts val="1875"/>
              </a:lnSpc>
            </a:pPr>
            <a:r>
              <a:rPr lang="en-US" dirty="0">
                <a:solidFill>
                  <a:srgbClr val="000000"/>
                </a:solidFill>
                <a:latin typeface="Consolas" panose="020B0609020204030204" pitchFamily="49" charset="0"/>
              </a:rPr>
              <a:t>	</a:t>
            </a:r>
            <a:r>
              <a:rPr lang="en-US" b="0" dirty="0">
                <a:solidFill>
                  <a:srgbClr val="3165BB"/>
                </a:solidFill>
                <a:effectLst/>
                <a:latin typeface="Consolas" panose="020B0609020204030204" pitchFamily="49" charset="0"/>
              </a:rPr>
              <a:t>TOTALYTD</a:t>
            </a:r>
            <a:r>
              <a:rPr lang="en-US" b="0" dirty="0">
                <a:solidFill>
                  <a:srgbClr val="000000"/>
                </a:solidFill>
                <a:effectLst/>
                <a:latin typeface="Consolas" panose="020B0609020204030204" pitchFamily="49" charset="0"/>
              </a:rPr>
              <a:t>(</a:t>
            </a:r>
            <a:r>
              <a:rPr lang="en-US" b="0" dirty="0">
                <a:solidFill>
                  <a:srgbClr val="68349C"/>
                </a:solidFill>
                <a:effectLst/>
                <a:latin typeface="Consolas" panose="020B0609020204030204" pitchFamily="49" charset="0"/>
              </a:rPr>
              <a:t>[Avg Price]</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'Calendar'[Date]</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pPr>
              <a:lnSpc>
                <a:spcPts val="1875"/>
              </a:lnSpc>
            </a:pPr>
            <a:r>
              <a:rPr lang="en-IN" dirty="0"/>
              <a:t>📈 </a:t>
            </a:r>
            <a:r>
              <a:rPr lang="en-US" b="0" dirty="0">
                <a:solidFill>
                  <a:srgbClr val="000000"/>
                </a:solidFill>
                <a:effectLst/>
                <a:latin typeface="Consolas" panose="020B0609020204030204" pitchFamily="49" charset="0"/>
              </a:rPr>
              <a:t>YOY Avg Price Growth = </a:t>
            </a:r>
          </a:p>
          <a:p>
            <a:pPr>
              <a:lnSpc>
                <a:spcPts val="1875"/>
              </a:lnSpc>
            </a:pPr>
            <a:r>
              <a:rPr lang="en-US" dirty="0">
                <a:solidFill>
                  <a:srgbClr val="000000"/>
                </a:solidFill>
                <a:latin typeface="Consolas" panose="020B0609020204030204" pitchFamily="49" charset="0"/>
              </a:rPr>
              <a:t>	</a:t>
            </a:r>
            <a:r>
              <a:rPr lang="en-US" b="0" dirty="0">
                <a:solidFill>
                  <a:srgbClr val="68349C"/>
                </a:solidFill>
                <a:effectLst/>
                <a:latin typeface="Consolas" panose="020B0609020204030204" pitchFamily="49" charset="0"/>
              </a:rPr>
              <a:t>[Avg Price Diff]</a:t>
            </a:r>
            <a:r>
              <a:rPr lang="en-US" b="0" dirty="0">
                <a:solidFill>
                  <a:srgbClr val="000000"/>
                </a:solidFill>
                <a:effectLst/>
                <a:latin typeface="Consolas" panose="020B0609020204030204" pitchFamily="49" charset="0"/>
              </a:rPr>
              <a:t>/</a:t>
            </a:r>
            <a:r>
              <a:rPr lang="en-US" b="0" dirty="0">
                <a:solidFill>
                  <a:srgbClr val="68349C"/>
                </a:solidFill>
                <a:effectLst/>
                <a:latin typeface="Consolas" panose="020B0609020204030204" pitchFamily="49" charset="0"/>
              </a:rPr>
              <a:t>[PYTD Avg Price]</a:t>
            </a:r>
            <a:endParaRPr lang="en-US" b="0" dirty="0">
              <a:solidFill>
                <a:srgbClr val="000000"/>
              </a:solidFill>
              <a:effectLst/>
              <a:latin typeface="Consolas" panose="020B0609020204030204" pitchFamily="49" charset="0"/>
            </a:endParaRPr>
          </a:p>
          <a:p>
            <a:endParaRPr lang="en-US" dirty="0">
              <a:solidFill>
                <a:srgbClr val="68349C"/>
              </a:solidFill>
            </a:endParaRPr>
          </a:p>
          <a:p>
            <a:pPr>
              <a:lnSpc>
                <a:spcPts val="1875"/>
              </a:lnSpc>
            </a:pPr>
            <a:r>
              <a:rPr lang="en-IN" dirty="0"/>
              <a:t>⚖️ </a:t>
            </a:r>
            <a:r>
              <a:rPr lang="en-US" b="0" dirty="0">
                <a:solidFill>
                  <a:srgbClr val="000000"/>
                </a:solidFill>
                <a:effectLst/>
                <a:latin typeface="Consolas" panose="020B0609020204030204" pitchFamily="49" charset="0"/>
              </a:rPr>
              <a:t>Avg Price Diff = </a:t>
            </a:r>
          </a:p>
          <a:p>
            <a:pPr>
              <a:lnSpc>
                <a:spcPts val="1875"/>
              </a:lnSpc>
            </a:pPr>
            <a:r>
              <a:rPr lang="en-US" dirty="0">
                <a:solidFill>
                  <a:srgbClr val="000000"/>
                </a:solidFill>
                <a:latin typeface="Consolas" panose="020B0609020204030204" pitchFamily="49" charset="0"/>
              </a:rPr>
              <a:t>	</a:t>
            </a:r>
            <a:r>
              <a:rPr lang="en-US" b="0" dirty="0">
                <a:solidFill>
                  <a:srgbClr val="68349C"/>
                </a:solidFill>
                <a:effectLst/>
                <a:latin typeface="Consolas" panose="020B0609020204030204" pitchFamily="49" charset="0"/>
              </a:rPr>
              <a:t>[YTD Avg Price]</a:t>
            </a:r>
            <a:r>
              <a:rPr lang="en-US" b="0" dirty="0">
                <a:solidFill>
                  <a:srgbClr val="000000"/>
                </a:solidFill>
                <a:effectLst/>
                <a:latin typeface="Consolas" panose="020B0609020204030204" pitchFamily="49" charset="0"/>
              </a:rPr>
              <a:t>-</a:t>
            </a:r>
            <a:r>
              <a:rPr lang="en-US" b="0" dirty="0">
                <a:solidFill>
                  <a:srgbClr val="68349C"/>
                </a:solidFill>
                <a:effectLst/>
                <a:latin typeface="Consolas" panose="020B0609020204030204" pitchFamily="49" charset="0"/>
              </a:rPr>
              <a:t>[PYTD Avg Price]</a:t>
            </a:r>
            <a:endParaRPr lang="en-US" b="0" dirty="0">
              <a:solidFill>
                <a:srgbClr val="000000"/>
              </a:solidFill>
              <a:effectLst/>
              <a:latin typeface="Consolas" panose="020B0609020204030204" pitchFamily="49" charset="0"/>
            </a:endParaRPr>
          </a:p>
          <a:p>
            <a:endParaRPr lang="en-US" b="0" dirty="0">
              <a:solidFill>
                <a:srgbClr val="68349C"/>
              </a:solidFill>
              <a:effectLst/>
            </a:endParaRPr>
          </a:p>
          <a:p>
            <a:endParaRPr lang="en-US" dirty="0">
              <a:solidFill>
                <a:srgbClr val="68349C"/>
              </a:solidFill>
            </a:endParaRPr>
          </a:p>
          <a:p>
            <a:r>
              <a:rPr lang="en-IN" dirty="0"/>
              <a:t>📅 </a:t>
            </a:r>
            <a:r>
              <a:rPr lang="en-US" b="0" dirty="0">
                <a:solidFill>
                  <a:srgbClr val="000000"/>
                </a:solidFill>
                <a:effectLst/>
                <a:latin typeface="Consolas" panose="020B0609020204030204" pitchFamily="49" charset="0"/>
              </a:rPr>
              <a:t>MTD Avg Price = </a:t>
            </a:r>
          </a:p>
          <a:p>
            <a:r>
              <a:rPr lang="en-US" dirty="0">
                <a:solidFill>
                  <a:srgbClr val="000000"/>
                </a:solidFill>
                <a:latin typeface="Consolas" panose="020B0609020204030204" pitchFamily="49" charset="0"/>
              </a:rPr>
              <a:t>	</a:t>
            </a:r>
            <a:r>
              <a:rPr lang="en-US" b="0" dirty="0">
                <a:solidFill>
                  <a:srgbClr val="3165BB"/>
                </a:solidFill>
                <a:effectLst/>
                <a:latin typeface="Consolas" panose="020B0609020204030204" pitchFamily="49" charset="0"/>
              </a:rPr>
              <a:t>TOTALMTD</a:t>
            </a:r>
            <a:r>
              <a:rPr lang="en-US" b="0" dirty="0">
                <a:solidFill>
                  <a:srgbClr val="000000"/>
                </a:solidFill>
                <a:effectLst/>
                <a:latin typeface="Consolas" panose="020B0609020204030204" pitchFamily="49" charset="0"/>
              </a:rPr>
              <a:t>(</a:t>
            </a:r>
            <a:r>
              <a:rPr lang="en-US" b="0" dirty="0">
                <a:solidFill>
                  <a:srgbClr val="68349C"/>
                </a:solidFill>
                <a:effectLst/>
                <a:latin typeface="Consolas" panose="020B0609020204030204" pitchFamily="49" charset="0"/>
              </a:rPr>
              <a:t>[Avg Price]</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'Calendar'[Date]</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endParaRPr lang="en-US" b="0" dirty="0">
              <a:solidFill>
                <a:srgbClr val="000000"/>
              </a:solidFill>
              <a:effectLst/>
            </a:endParaRPr>
          </a:p>
          <a:p>
            <a:endParaRPr lang="en-IN" sz="2400" dirty="0">
              <a:solidFill>
                <a:srgbClr val="C00000"/>
              </a:solidFill>
              <a:latin typeface="Calibri bold" panose="020F0702030404030204" pitchFamily="34" charset="0"/>
              <a:ea typeface="Calibri bold" panose="020F0702030404030204" pitchFamily="34" charset="0"/>
              <a:cs typeface="Calibri bold" panose="020F0702030404030204" pitchFamily="34" charset="0"/>
            </a:endParaRPr>
          </a:p>
        </p:txBody>
      </p:sp>
      <p:sp>
        <p:nvSpPr>
          <p:cNvPr id="12" name="Rectangle: Rounded Corners 11">
            <a:extLst>
              <a:ext uri="{FF2B5EF4-FFF2-40B4-BE49-F238E27FC236}">
                <a16:creationId xmlns:a16="http://schemas.microsoft.com/office/drawing/2014/main" id="{C92D0B57-CD73-14C1-F63A-E44AD8FB2DFC}"/>
              </a:ext>
            </a:extLst>
          </p:cNvPr>
          <p:cNvSpPr/>
          <p:nvPr/>
        </p:nvSpPr>
        <p:spPr>
          <a:xfrm>
            <a:off x="7098827" y="3057995"/>
            <a:ext cx="5069173" cy="2773179"/>
          </a:xfrm>
          <a:prstGeom prst="roundRect">
            <a:avLst/>
          </a:prstGeom>
          <a:solidFill>
            <a:srgbClr val="DD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tx1">
                    <a:lumMod val="95000"/>
                    <a:lumOff val="5000"/>
                  </a:schemeClr>
                </a:solidFill>
                <a:latin typeface="Calibri bold" panose="020F0702030404030204" pitchFamily="34" charset="0"/>
                <a:ea typeface="Calibri bold" panose="020F0702030404030204" pitchFamily="34" charset="0"/>
                <a:cs typeface="Calibri bold" panose="020F0702030404030204" pitchFamily="34" charset="0"/>
              </a:rPr>
              <a:t>Insights:</a:t>
            </a:r>
            <a:r>
              <a:rPr lang="en-US" dirty="0"/>
              <a:t> </a:t>
            </a:r>
            <a:r>
              <a:rPr lang="en-US" sz="2000" dirty="0">
                <a:solidFill>
                  <a:schemeClr val="tx1">
                    <a:lumMod val="95000"/>
                    <a:lumOff val="5000"/>
                  </a:schemeClr>
                </a:solidFill>
              </a:rPr>
              <a:t>The average selling price YTD is $28K, slightly down by 0.79%, indicating a shift toward Low</a:t>
            </a:r>
            <a:endParaRPr lang="en-IN" dirty="0">
              <a:solidFill>
                <a:schemeClr val="tx1">
                  <a:lumMod val="95000"/>
                  <a:lumOff val="5000"/>
                </a:schemeClr>
              </a:solidFill>
            </a:endParaRPr>
          </a:p>
        </p:txBody>
      </p:sp>
      <p:pic>
        <p:nvPicPr>
          <p:cNvPr id="6" name="Picture 5">
            <a:extLst>
              <a:ext uri="{FF2B5EF4-FFF2-40B4-BE49-F238E27FC236}">
                <a16:creationId xmlns:a16="http://schemas.microsoft.com/office/drawing/2014/main" id="{16C674C4-C7EB-325B-3F82-3420EAA23A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8795" y="1351805"/>
            <a:ext cx="7214410" cy="930369"/>
          </a:xfrm>
          <a:prstGeom prst="rect">
            <a:avLst/>
          </a:prstGeom>
        </p:spPr>
      </p:pic>
    </p:spTree>
    <p:extLst>
      <p:ext uri="{BB962C8B-B14F-4D97-AF65-F5344CB8AC3E}">
        <p14:creationId xmlns:p14="http://schemas.microsoft.com/office/powerpoint/2010/main" val="1150775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0A433FBF-BAE0-B375-6C9C-0338D54CECA9}"/>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3AF965E-C9CD-5EE0-BC47-44BFF7C10A9C}"/>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975615F-5637-AECC-6562-E13406C86841}"/>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8F21F98-848C-1D31-0769-CE056FAC227A}"/>
              </a:ext>
            </a:extLst>
          </p:cNvPr>
          <p:cNvSpPr txBox="1"/>
          <p:nvPr/>
        </p:nvSpPr>
        <p:spPr>
          <a:xfrm>
            <a:off x="1778834" y="532071"/>
            <a:ext cx="8634332" cy="584775"/>
          </a:xfrm>
          <a:prstGeom prst="rect">
            <a:avLst/>
          </a:prstGeom>
          <a:noFill/>
        </p:spPr>
        <p:txBody>
          <a:bodyPr wrap="square" rtlCol="0">
            <a:spAutoFit/>
          </a:bodyPr>
          <a:lstStyle/>
          <a:p>
            <a:pPr algn="ct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 Year-to-Date KPI Summary</a:t>
            </a:r>
          </a:p>
        </p:txBody>
      </p:sp>
      <p:sp>
        <p:nvSpPr>
          <p:cNvPr id="2" name="TextBox 1">
            <a:extLst>
              <a:ext uri="{FF2B5EF4-FFF2-40B4-BE49-F238E27FC236}">
                <a16:creationId xmlns:a16="http://schemas.microsoft.com/office/drawing/2014/main" id="{F2BF5719-88B9-5723-6D73-B043FD05270B}"/>
              </a:ext>
            </a:extLst>
          </p:cNvPr>
          <p:cNvSpPr txBox="1"/>
          <p:nvPr/>
        </p:nvSpPr>
        <p:spPr>
          <a:xfrm>
            <a:off x="620590" y="2413416"/>
            <a:ext cx="6324842" cy="4719241"/>
          </a:xfrm>
          <a:prstGeom prst="rect">
            <a:avLst/>
          </a:prstGeom>
          <a:noFill/>
        </p:spPr>
        <p:txBody>
          <a:bodyPr wrap="square" rtlCol="0">
            <a:spAutoFit/>
          </a:bodyPr>
          <a:lstStyle/>
          <a:p>
            <a:r>
              <a:rPr lang="en-IN" sz="2400" dirty="0">
                <a:solidFill>
                  <a:schemeClr val="tx2">
                    <a:lumMod val="75000"/>
                  </a:schemeClr>
                </a:solidFill>
                <a:latin typeface="Calibri bold" panose="020F0702030404030204" pitchFamily="34" charset="0"/>
                <a:ea typeface="Calibri bold" panose="020F0702030404030204" pitchFamily="34" charset="0"/>
                <a:cs typeface="Calibri bold" panose="020F0702030404030204" pitchFamily="34" charset="0"/>
              </a:rPr>
              <a:t>DAX Formula</a:t>
            </a:r>
          </a:p>
          <a:p>
            <a:pPr>
              <a:lnSpc>
                <a:spcPts val="1875"/>
              </a:lnSpc>
            </a:pPr>
            <a:r>
              <a:rPr lang="en-IN" dirty="0"/>
              <a:t>🚗 </a:t>
            </a:r>
            <a:r>
              <a:rPr lang="en-US" b="0" dirty="0">
                <a:solidFill>
                  <a:srgbClr val="000000"/>
                </a:solidFill>
                <a:effectLst/>
                <a:latin typeface="Consolas" panose="020B0609020204030204" pitchFamily="49" charset="0"/>
              </a:rPr>
              <a:t>YTD Cars </a:t>
            </a:r>
            <a:r>
              <a:rPr lang="en-US" b="0" dirty="0" err="1">
                <a:solidFill>
                  <a:srgbClr val="000000"/>
                </a:solidFill>
                <a:effectLst/>
                <a:latin typeface="Consolas" panose="020B0609020204030204" pitchFamily="49" charset="0"/>
              </a:rPr>
              <a:t>Solds</a:t>
            </a:r>
            <a:r>
              <a:rPr lang="en-US" b="0" dirty="0">
                <a:solidFill>
                  <a:srgbClr val="000000"/>
                </a:solidFill>
                <a:effectLst/>
                <a:latin typeface="Consolas" panose="020B0609020204030204" pitchFamily="49" charset="0"/>
              </a:rPr>
              <a:t> = 	</a:t>
            </a:r>
            <a:r>
              <a:rPr lang="en-US" b="0" dirty="0">
                <a:solidFill>
                  <a:srgbClr val="3165BB"/>
                </a:solidFill>
                <a:effectLst/>
                <a:latin typeface="Consolas" panose="020B0609020204030204" pitchFamily="49" charset="0"/>
              </a:rPr>
              <a:t>TOTALYTD</a:t>
            </a:r>
            <a:r>
              <a:rPr lang="en-US" b="0" dirty="0">
                <a:solidFill>
                  <a:srgbClr val="000000"/>
                </a:solidFill>
                <a:effectLst/>
                <a:latin typeface="Consolas" panose="020B0609020204030204" pitchFamily="49" charset="0"/>
              </a:rPr>
              <a:t>(</a:t>
            </a:r>
            <a:r>
              <a:rPr lang="en-US" b="0" dirty="0">
                <a:solidFill>
                  <a:srgbClr val="3165BB"/>
                </a:solidFill>
                <a:effectLst/>
                <a:latin typeface="Consolas" panose="020B0609020204030204" pitchFamily="49" charset="0"/>
              </a:rPr>
              <a:t>COUNT</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car_data</a:t>
            </a:r>
            <a:r>
              <a:rPr lang="en-US" b="0" dirty="0">
                <a:solidFill>
                  <a:srgbClr val="001080"/>
                </a:solidFill>
                <a:effectLst/>
                <a:latin typeface="Consolas" panose="020B0609020204030204" pitchFamily="49" charset="0"/>
              </a:rPr>
              <a:t>[</a:t>
            </a:r>
            <a:r>
              <a:rPr lang="en-US" b="0" dirty="0" err="1">
                <a:solidFill>
                  <a:srgbClr val="001080"/>
                </a:solidFill>
                <a:effectLst/>
                <a:latin typeface="Consolas" panose="020B0609020204030204" pitchFamily="49" charset="0"/>
              </a:rPr>
              <a:t>Car_id</a:t>
            </a:r>
            <a:r>
              <a:rPr lang="en-US" b="0" dirty="0">
                <a:solidFill>
                  <a:srgbClr val="001080"/>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nSpc>
                <a:spcPts val="1875"/>
              </a:lnSpc>
            </a:pPr>
            <a:r>
              <a:rPr lang="en-US" dirty="0">
                <a:solidFill>
                  <a:srgbClr val="000000"/>
                </a:solidFill>
                <a:latin typeface="Consolas" panose="020B0609020204030204" pitchFamily="49" charset="0"/>
              </a:rPr>
              <a:t>	</a:t>
            </a:r>
            <a:r>
              <a:rPr lang="en-US" b="0" dirty="0">
                <a:solidFill>
                  <a:srgbClr val="001080"/>
                </a:solidFill>
                <a:effectLst/>
                <a:latin typeface="Consolas" panose="020B0609020204030204" pitchFamily="49" charset="0"/>
              </a:rPr>
              <a:t>'Calendar'[Date]</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pPr>
              <a:lnSpc>
                <a:spcPts val="1875"/>
              </a:lnSpc>
            </a:pPr>
            <a:r>
              <a:rPr lang="en-IN" dirty="0"/>
              <a:t>📈 </a:t>
            </a:r>
            <a:r>
              <a:rPr lang="en-US" b="0" dirty="0">
                <a:solidFill>
                  <a:srgbClr val="000000"/>
                </a:solidFill>
                <a:effectLst/>
                <a:latin typeface="Consolas" panose="020B0609020204030204" pitchFamily="49" charset="0"/>
              </a:rPr>
              <a:t>YOY Cars Sold = </a:t>
            </a:r>
          </a:p>
          <a:p>
            <a:pPr>
              <a:lnSpc>
                <a:spcPts val="1875"/>
              </a:lnSpc>
            </a:pPr>
            <a:r>
              <a:rPr lang="en-US" dirty="0">
                <a:solidFill>
                  <a:srgbClr val="000000"/>
                </a:solidFill>
                <a:latin typeface="Consolas" panose="020B0609020204030204" pitchFamily="49" charset="0"/>
              </a:rPr>
              <a:t>	</a:t>
            </a:r>
            <a:r>
              <a:rPr lang="en-US" b="0" dirty="0">
                <a:solidFill>
                  <a:srgbClr val="68349C"/>
                </a:solidFill>
                <a:effectLst/>
                <a:latin typeface="Consolas" panose="020B0609020204030204" pitchFamily="49" charset="0"/>
              </a:rPr>
              <a:t>[Cars Sold Diff]</a:t>
            </a:r>
            <a:r>
              <a:rPr lang="en-US" b="0" dirty="0">
                <a:solidFill>
                  <a:srgbClr val="000000"/>
                </a:solidFill>
                <a:effectLst/>
                <a:latin typeface="Consolas" panose="020B0609020204030204" pitchFamily="49" charset="0"/>
              </a:rPr>
              <a:t>/</a:t>
            </a:r>
            <a:r>
              <a:rPr lang="en-US" b="0" dirty="0">
                <a:solidFill>
                  <a:srgbClr val="68349C"/>
                </a:solidFill>
                <a:effectLst/>
                <a:latin typeface="Consolas" panose="020B0609020204030204" pitchFamily="49" charset="0"/>
              </a:rPr>
              <a:t>[YTD Cars </a:t>
            </a:r>
            <a:r>
              <a:rPr lang="en-US" b="0" dirty="0" err="1">
                <a:solidFill>
                  <a:srgbClr val="68349C"/>
                </a:solidFill>
                <a:effectLst/>
                <a:latin typeface="Consolas" panose="020B0609020204030204" pitchFamily="49" charset="0"/>
              </a:rPr>
              <a:t>Solds</a:t>
            </a:r>
            <a:r>
              <a:rPr lang="en-US" b="0" dirty="0">
                <a:solidFill>
                  <a:srgbClr val="68349C"/>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endParaRPr lang="en-US" dirty="0">
              <a:solidFill>
                <a:srgbClr val="68349C"/>
              </a:solidFill>
            </a:endParaRPr>
          </a:p>
          <a:p>
            <a:pPr>
              <a:lnSpc>
                <a:spcPts val="1875"/>
              </a:lnSpc>
            </a:pPr>
            <a:r>
              <a:rPr lang="en-IN" dirty="0"/>
              <a:t>⚖️ </a:t>
            </a:r>
            <a:r>
              <a:rPr lang="en-US" b="0" dirty="0">
                <a:solidFill>
                  <a:srgbClr val="000000"/>
                </a:solidFill>
                <a:effectLst/>
                <a:latin typeface="Consolas" panose="020B0609020204030204" pitchFamily="49" charset="0"/>
              </a:rPr>
              <a:t>Cars Sold Diff = </a:t>
            </a:r>
          </a:p>
          <a:p>
            <a:pPr>
              <a:lnSpc>
                <a:spcPts val="1875"/>
              </a:lnSpc>
            </a:pPr>
            <a:r>
              <a:rPr lang="en-US" dirty="0">
                <a:solidFill>
                  <a:srgbClr val="000000"/>
                </a:solidFill>
                <a:latin typeface="Consolas" panose="020B0609020204030204" pitchFamily="49" charset="0"/>
              </a:rPr>
              <a:t>	</a:t>
            </a:r>
            <a:r>
              <a:rPr lang="en-US" b="0" dirty="0">
                <a:solidFill>
                  <a:srgbClr val="68349C"/>
                </a:solidFill>
                <a:effectLst/>
                <a:latin typeface="Consolas" panose="020B0609020204030204" pitchFamily="49" charset="0"/>
              </a:rPr>
              <a:t>[YTD Cars </a:t>
            </a:r>
            <a:r>
              <a:rPr lang="en-US" b="0" dirty="0" err="1">
                <a:solidFill>
                  <a:srgbClr val="68349C"/>
                </a:solidFill>
                <a:effectLst/>
                <a:latin typeface="Consolas" panose="020B0609020204030204" pitchFamily="49" charset="0"/>
              </a:rPr>
              <a:t>Solds</a:t>
            </a:r>
            <a:r>
              <a:rPr lang="en-US" b="0" dirty="0">
                <a:solidFill>
                  <a:srgbClr val="68349C"/>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a:solidFill>
                  <a:srgbClr val="68349C"/>
                </a:solidFill>
                <a:effectLst/>
                <a:latin typeface="Consolas" panose="020B0609020204030204" pitchFamily="49" charset="0"/>
              </a:rPr>
              <a:t>[PYTD Cars Sold]</a:t>
            </a:r>
          </a:p>
          <a:p>
            <a:pPr>
              <a:lnSpc>
                <a:spcPts val="1875"/>
              </a:lnSpc>
            </a:pPr>
            <a:endParaRPr lang="en-US" b="0" dirty="0">
              <a:solidFill>
                <a:srgbClr val="000000"/>
              </a:solidFill>
              <a:effectLst/>
              <a:latin typeface="Consolas" panose="020B0609020204030204" pitchFamily="49" charset="0"/>
            </a:endParaRPr>
          </a:p>
          <a:p>
            <a:r>
              <a:rPr lang="en-IN" dirty="0"/>
              <a:t>📅 </a:t>
            </a:r>
            <a:r>
              <a:rPr lang="en-US" b="0" dirty="0">
                <a:solidFill>
                  <a:srgbClr val="000000"/>
                </a:solidFill>
                <a:effectLst/>
                <a:latin typeface="Consolas" panose="020B0609020204030204" pitchFamily="49" charset="0"/>
              </a:rPr>
              <a:t>MTD Cars Sold = 	</a:t>
            </a:r>
            <a:r>
              <a:rPr lang="en-US" b="0" dirty="0">
                <a:solidFill>
                  <a:srgbClr val="3165BB"/>
                </a:solidFill>
                <a:effectLst/>
                <a:latin typeface="Consolas" panose="020B0609020204030204" pitchFamily="49" charset="0"/>
              </a:rPr>
              <a:t>TOTALMTD</a:t>
            </a:r>
            <a:r>
              <a:rPr lang="en-US" b="0" dirty="0">
                <a:solidFill>
                  <a:srgbClr val="000000"/>
                </a:solidFill>
                <a:effectLst/>
                <a:latin typeface="Consolas" panose="020B0609020204030204" pitchFamily="49" charset="0"/>
              </a:rPr>
              <a:t>(</a:t>
            </a:r>
            <a:r>
              <a:rPr lang="en-US" b="0" dirty="0">
                <a:solidFill>
                  <a:srgbClr val="3165BB"/>
                </a:solidFill>
                <a:effectLst/>
                <a:latin typeface="Consolas" panose="020B0609020204030204" pitchFamily="49" charset="0"/>
              </a:rPr>
              <a:t>COUNT</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car_data</a:t>
            </a:r>
            <a:r>
              <a:rPr lang="en-US" b="0" dirty="0">
                <a:solidFill>
                  <a:srgbClr val="001080"/>
                </a:solidFill>
                <a:effectLst/>
                <a:latin typeface="Consolas" panose="020B0609020204030204" pitchFamily="49" charset="0"/>
              </a:rPr>
              <a:t>[</a:t>
            </a:r>
            <a:r>
              <a:rPr lang="en-US" b="0" dirty="0" err="1">
                <a:solidFill>
                  <a:srgbClr val="001080"/>
                </a:solidFill>
                <a:effectLst/>
                <a:latin typeface="Consolas" panose="020B0609020204030204" pitchFamily="49" charset="0"/>
              </a:rPr>
              <a:t>Car_id</a:t>
            </a:r>
            <a:r>
              <a:rPr lang="en-US" b="0" dirty="0">
                <a:solidFill>
                  <a:srgbClr val="001080"/>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dirty="0">
                <a:solidFill>
                  <a:srgbClr val="000000"/>
                </a:solidFill>
                <a:latin typeface="Consolas" panose="020B0609020204030204" pitchFamily="49" charset="0"/>
              </a:rPr>
              <a:t>	</a:t>
            </a:r>
            <a:r>
              <a:rPr lang="en-US" b="0" dirty="0">
                <a:solidFill>
                  <a:srgbClr val="001080"/>
                </a:solidFill>
                <a:effectLst/>
                <a:latin typeface="Consolas" panose="020B0609020204030204" pitchFamily="49" charset="0"/>
              </a:rPr>
              <a:t>'Calendar'[Date]</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endParaRPr lang="en-US" b="0" dirty="0">
              <a:solidFill>
                <a:srgbClr val="000000"/>
              </a:solidFill>
              <a:effectLst/>
            </a:endParaRPr>
          </a:p>
          <a:p>
            <a:endParaRPr lang="en-IN" sz="2400" dirty="0">
              <a:solidFill>
                <a:srgbClr val="C00000"/>
              </a:solidFill>
              <a:latin typeface="Calibri bold" panose="020F0702030404030204" pitchFamily="34" charset="0"/>
              <a:ea typeface="Calibri bold" panose="020F0702030404030204" pitchFamily="34" charset="0"/>
              <a:cs typeface="Calibri bold" panose="020F0702030404030204" pitchFamily="34" charset="0"/>
            </a:endParaRPr>
          </a:p>
        </p:txBody>
      </p:sp>
      <p:sp>
        <p:nvSpPr>
          <p:cNvPr id="12" name="Rectangle: Rounded Corners 11">
            <a:extLst>
              <a:ext uri="{FF2B5EF4-FFF2-40B4-BE49-F238E27FC236}">
                <a16:creationId xmlns:a16="http://schemas.microsoft.com/office/drawing/2014/main" id="{2A2E31C1-FADA-C921-7510-C7CE0F93F6CB}"/>
              </a:ext>
            </a:extLst>
          </p:cNvPr>
          <p:cNvSpPr/>
          <p:nvPr/>
        </p:nvSpPr>
        <p:spPr>
          <a:xfrm>
            <a:off x="7098827" y="3057995"/>
            <a:ext cx="5069173" cy="2773179"/>
          </a:xfrm>
          <a:prstGeom prst="roundRect">
            <a:avLst/>
          </a:prstGeom>
          <a:solidFill>
            <a:srgbClr val="DD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tx1">
                    <a:lumMod val="95000"/>
                    <a:lumOff val="5000"/>
                  </a:schemeClr>
                </a:solidFill>
                <a:latin typeface="Calibri bold" panose="020F0702030404030204" pitchFamily="34" charset="0"/>
                <a:ea typeface="Calibri bold" panose="020F0702030404030204" pitchFamily="34" charset="0"/>
                <a:cs typeface="Calibri bold" panose="020F0702030404030204" pitchFamily="34" charset="0"/>
              </a:rPr>
              <a:t>Insights:</a:t>
            </a:r>
            <a:r>
              <a:rPr lang="en-US" dirty="0"/>
              <a:t> </a:t>
            </a:r>
            <a:r>
              <a:rPr lang="en-US" sz="2000" dirty="0">
                <a:solidFill>
                  <a:srgbClr val="3A3A3A"/>
                </a:solidFill>
              </a:rPr>
              <a:t>Car unit sales reached 13.3K with 19.73% YoY growth. Monthly sales (MTD) are 1.92K</a:t>
            </a:r>
            <a:r>
              <a:rPr lang="en-US" sz="2000" dirty="0"/>
              <a:t>.</a:t>
            </a:r>
            <a:r>
              <a:rPr lang="en-US" sz="2000" dirty="0">
                <a:solidFill>
                  <a:schemeClr val="tx1">
                    <a:lumMod val="95000"/>
                    <a:lumOff val="5000"/>
                  </a:schemeClr>
                </a:solidFill>
              </a:rPr>
              <a:t>— showing rising demand Year On Year</a:t>
            </a:r>
            <a:endParaRPr lang="en-IN" dirty="0">
              <a:solidFill>
                <a:schemeClr val="tx1">
                  <a:lumMod val="95000"/>
                  <a:lumOff val="5000"/>
                </a:schemeClr>
              </a:solidFill>
            </a:endParaRPr>
          </a:p>
        </p:txBody>
      </p:sp>
      <p:pic>
        <p:nvPicPr>
          <p:cNvPr id="6" name="Picture 5">
            <a:extLst>
              <a:ext uri="{FF2B5EF4-FFF2-40B4-BE49-F238E27FC236}">
                <a16:creationId xmlns:a16="http://schemas.microsoft.com/office/drawing/2014/main" id="{ED4A7596-25A3-5063-71CB-FE742FAE99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2773" y="1195310"/>
            <a:ext cx="6760640" cy="1105525"/>
          </a:xfrm>
          <a:prstGeom prst="rect">
            <a:avLst/>
          </a:prstGeom>
        </p:spPr>
      </p:pic>
    </p:spTree>
    <p:extLst>
      <p:ext uri="{BB962C8B-B14F-4D97-AF65-F5344CB8AC3E}">
        <p14:creationId xmlns:p14="http://schemas.microsoft.com/office/powerpoint/2010/main" val="3142456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25425E0A-446A-86FD-8C63-4628E78704CE}"/>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2AC39F2-3B5B-5BAF-67D3-339289A70D19}"/>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8372AA8-C983-A325-49F9-43A3F62CB2C6}"/>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1FC5D96-326C-5BEA-D9F8-89DD27328596}"/>
              </a:ext>
            </a:extLst>
          </p:cNvPr>
          <p:cNvSpPr txBox="1"/>
          <p:nvPr/>
        </p:nvSpPr>
        <p:spPr>
          <a:xfrm>
            <a:off x="1766834" y="532071"/>
            <a:ext cx="8634332" cy="584775"/>
          </a:xfrm>
          <a:prstGeom prst="rect">
            <a:avLst/>
          </a:prstGeom>
          <a:noFill/>
        </p:spPr>
        <p:txBody>
          <a:bodyPr wrap="square" rtlCol="0">
            <a:spAutoFit/>
          </a:bodyPr>
          <a:lstStyle/>
          <a:p>
            <a:pPr algn="ctr"/>
            <a:r>
              <a:rPr lang="en-IN" sz="3200" dirty="0"/>
              <a:t>📈 </a:t>
            </a: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Weekly Sales Trend Analysis</a:t>
            </a:r>
          </a:p>
        </p:txBody>
      </p:sp>
      <p:pic>
        <p:nvPicPr>
          <p:cNvPr id="6" name="Picture 5">
            <a:extLst>
              <a:ext uri="{FF2B5EF4-FFF2-40B4-BE49-F238E27FC236}">
                <a16:creationId xmlns:a16="http://schemas.microsoft.com/office/drawing/2014/main" id="{41F462C5-DA66-E398-D4CC-FFB03DEE5A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8485" y="1439056"/>
            <a:ext cx="7794885" cy="3222885"/>
          </a:xfrm>
          <a:prstGeom prst="rect">
            <a:avLst/>
          </a:prstGeom>
        </p:spPr>
      </p:pic>
      <p:sp>
        <p:nvSpPr>
          <p:cNvPr id="8" name="Rectangle 7">
            <a:extLst>
              <a:ext uri="{FF2B5EF4-FFF2-40B4-BE49-F238E27FC236}">
                <a16:creationId xmlns:a16="http://schemas.microsoft.com/office/drawing/2014/main" id="{64A7C02D-8D78-DB10-5167-06BBFC35739D}"/>
              </a:ext>
            </a:extLst>
          </p:cNvPr>
          <p:cNvSpPr/>
          <p:nvPr/>
        </p:nvSpPr>
        <p:spPr>
          <a:xfrm>
            <a:off x="974361" y="5006715"/>
            <a:ext cx="10463133" cy="1214201"/>
          </a:xfrm>
          <a:prstGeom prst="rect">
            <a:avLst/>
          </a:prstGeom>
          <a:solidFill>
            <a:srgbClr val="DD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 </a:t>
            </a:r>
            <a:r>
              <a:rPr lang="en-IN" sz="2400" dirty="0">
                <a:solidFill>
                  <a:schemeClr val="accent1">
                    <a:lumMod val="50000"/>
                  </a:schemeClr>
                </a:solidFill>
                <a:latin typeface="Calibri bold" panose="020F0702030404030204" pitchFamily="34" charset="0"/>
                <a:ea typeface="Calibri bold" panose="020F0702030404030204" pitchFamily="34" charset="0"/>
                <a:cs typeface="Calibri bold" panose="020F0702030404030204" pitchFamily="34" charset="0"/>
              </a:rPr>
              <a:t>Insights:</a:t>
            </a:r>
            <a:r>
              <a:rPr lang="en-US" dirty="0"/>
              <a:t> </a:t>
            </a:r>
            <a:r>
              <a:rPr lang="en-US" sz="2000" dirty="0">
                <a:solidFill>
                  <a:srgbClr val="3A3A3A"/>
                </a:solidFill>
              </a:rPr>
              <a:t>Peak weekly sales exceeded $14M in Week 36. Sales show a positive seasonal pattern, peaking around mid-year.</a:t>
            </a:r>
            <a:endParaRPr lang="en-IN" dirty="0">
              <a:solidFill>
                <a:srgbClr val="3A3A3A"/>
              </a:solidFill>
              <a:latin typeface="Calibri bold" panose="020F0702030404030204" pitchFamily="34" charset="0"/>
              <a:ea typeface="Calibri bold" panose="020F0702030404030204" pitchFamily="34" charset="0"/>
              <a:cs typeface="Calibri bold" panose="020F0702030404030204" pitchFamily="34" charset="0"/>
            </a:endParaRPr>
          </a:p>
        </p:txBody>
      </p:sp>
    </p:spTree>
    <p:extLst>
      <p:ext uri="{BB962C8B-B14F-4D97-AF65-F5344CB8AC3E}">
        <p14:creationId xmlns:p14="http://schemas.microsoft.com/office/powerpoint/2010/main" val="354348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6F089319-554B-D49E-5A3B-74BD127F3E83}"/>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DE824A3-BF01-E9F1-B8BD-080F3DAEA1E0}"/>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2CC617A-2BB4-4080-0747-8B2F99AF0052}"/>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55C8EA0-ED63-B4E5-8F5F-1268BACE0725}"/>
              </a:ext>
            </a:extLst>
          </p:cNvPr>
          <p:cNvSpPr txBox="1"/>
          <p:nvPr/>
        </p:nvSpPr>
        <p:spPr>
          <a:xfrm>
            <a:off x="1766834" y="532071"/>
            <a:ext cx="8634332" cy="584775"/>
          </a:xfrm>
          <a:prstGeom prst="rect">
            <a:avLst/>
          </a:prstGeom>
          <a:noFill/>
        </p:spPr>
        <p:txBody>
          <a:bodyPr wrap="square" rtlCol="0">
            <a:spAutoFit/>
          </a:bodyPr>
          <a:lstStyle/>
          <a:p>
            <a:pPr algn="ctr"/>
            <a:r>
              <a:rPr lang="en-IN" sz="3200" dirty="0"/>
              <a:t>🚘 </a:t>
            </a: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Top-Selling Car Body Styles</a:t>
            </a:r>
          </a:p>
        </p:txBody>
      </p:sp>
      <p:pic>
        <p:nvPicPr>
          <p:cNvPr id="3" name="Picture 2">
            <a:extLst>
              <a:ext uri="{FF2B5EF4-FFF2-40B4-BE49-F238E27FC236}">
                <a16:creationId xmlns:a16="http://schemas.microsoft.com/office/drawing/2014/main" id="{AD4B96ED-60EF-2010-8759-2D55148362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7678" y="1429575"/>
            <a:ext cx="5336498" cy="3202386"/>
          </a:xfrm>
          <a:prstGeom prst="rect">
            <a:avLst/>
          </a:prstGeom>
        </p:spPr>
      </p:pic>
      <p:sp>
        <p:nvSpPr>
          <p:cNvPr id="8" name="Rectangle 7">
            <a:extLst>
              <a:ext uri="{FF2B5EF4-FFF2-40B4-BE49-F238E27FC236}">
                <a16:creationId xmlns:a16="http://schemas.microsoft.com/office/drawing/2014/main" id="{3D6734CC-AF58-5E4F-0582-18A6674FD150}"/>
              </a:ext>
            </a:extLst>
          </p:cNvPr>
          <p:cNvSpPr/>
          <p:nvPr/>
        </p:nvSpPr>
        <p:spPr>
          <a:xfrm>
            <a:off x="974361" y="5006715"/>
            <a:ext cx="10463133" cy="1214201"/>
          </a:xfrm>
          <a:prstGeom prst="rect">
            <a:avLst/>
          </a:prstGeom>
          <a:solidFill>
            <a:srgbClr val="DD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 </a:t>
            </a:r>
            <a:r>
              <a:rPr lang="en-IN" sz="2400" dirty="0">
                <a:solidFill>
                  <a:schemeClr val="accent1">
                    <a:lumMod val="50000"/>
                  </a:schemeClr>
                </a:solidFill>
                <a:latin typeface="Calibri bold" panose="020F0702030404030204" pitchFamily="34" charset="0"/>
                <a:ea typeface="Calibri bold" panose="020F0702030404030204" pitchFamily="34" charset="0"/>
                <a:cs typeface="Calibri bold" panose="020F0702030404030204" pitchFamily="34" charset="0"/>
              </a:rPr>
              <a:t>Insights:</a:t>
            </a:r>
            <a:r>
              <a:rPr lang="en-US" sz="2000" dirty="0">
                <a:solidFill>
                  <a:srgbClr val="3A3A3A"/>
                </a:solidFill>
              </a:rPr>
              <a:t>SUVs lead the market share, followed by Sedans and Hatchbacks. SUVs account for 26.91% of total sales</a:t>
            </a:r>
            <a:endParaRPr lang="en-IN" dirty="0">
              <a:solidFill>
                <a:srgbClr val="3A3A3A"/>
              </a:solidFill>
              <a:latin typeface="Calibri bold" panose="020F0702030404030204" pitchFamily="34" charset="0"/>
              <a:ea typeface="Calibri bold" panose="020F0702030404030204" pitchFamily="34" charset="0"/>
              <a:cs typeface="Calibri bold" panose="020F0702030404030204" pitchFamily="34" charset="0"/>
            </a:endParaRPr>
          </a:p>
        </p:txBody>
      </p:sp>
    </p:spTree>
    <p:extLst>
      <p:ext uri="{BB962C8B-B14F-4D97-AF65-F5344CB8AC3E}">
        <p14:creationId xmlns:p14="http://schemas.microsoft.com/office/powerpoint/2010/main" val="1925283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38ADE2F0-4AAF-6D21-36A2-4F6AAF3A25B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E185F6E-EDD8-1FA2-DB37-A03B5CDD447B}"/>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069B21C-4270-9D30-CE04-D0764B470E32}"/>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9061393-5E4B-B7FC-0D90-161AF61E0085}"/>
              </a:ext>
            </a:extLst>
          </p:cNvPr>
          <p:cNvSpPr txBox="1"/>
          <p:nvPr/>
        </p:nvSpPr>
        <p:spPr>
          <a:xfrm>
            <a:off x="1766834" y="532071"/>
            <a:ext cx="8634332" cy="584775"/>
          </a:xfrm>
          <a:prstGeom prst="rect">
            <a:avLst/>
          </a:prstGeom>
          <a:noFill/>
        </p:spPr>
        <p:txBody>
          <a:bodyPr wrap="square" rtlCol="0">
            <a:spAutoFit/>
          </a:bodyPr>
          <a:lstStyle/>
          <a:p>
            <a:pPr algn="ctr"/>
            <a:r>
              <a:rPr lang="en-IN" sz="3200" dirty="0"/>
              <a:t>🎨 </a:t>
            </a: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Preferred Car Colours</a:t>
            </a:r>
          </a:p>
        </p:txBody>
      </p:sp>
      <p:pic>
        <p:nvPicPr>
          <p:cNvPr id="6" name="Picture 5">
            <a:extLst>
              <a:ext uri="{FF2B5EF4-FFF2-40B4-BE49-F238E27FC236}">
                <a16:creationId xmlns:a16="http://schemas.microsoft.com/office/drawing/2014/main" id="{18BB4146-CBA9-57AD-0D0C-BB0F87688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9049" y="1307891"/>
            <a:ext cx="4977097" cy="3462683"/>
          </a:xfrm>
          <a:prstGeom prst="rect">
            <a:avLst/>
          </a:prstGeom>
        </p:spPr>
      </p:pic>
      <p:sp>
        <p:nvSpPr>
          <p:cNvPr id="8" name="Rectangle 7">
            <a:extLst>
              <a:ext uri="{FF2B5EF4-FFF2-40B4-BE49-F238E27FC236}">
                <a16:creationId xmlns:a16="http://schemas.microsoft.com/office/drawing/2014/main" id="{ECBEB443-DC7E-AC9A-E603-BB0A91440B13}"/>
              </a:ext>
            </a:extLst>
          </p:cNvPr>
          <p:cNvSpPr/>
          <p:nvPr/>
        </p:nvSpPr>
        <p:spPr>
          <a:xfrm>
            <a:off x="1086031" y="4961619"/>
            <a:ext cx="10463133" cy="1214201"/>
          </a:xfrm>
          <a:prstGeom prst="rect">
            <a:avLst/>
          </a:prstGeom>
          <a:solidFill>
            <a:srgbClr val="DD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 </a:t>
            </a:r>
            <a:r>
              <a:rPr lang="en-IN" sz="2400" dirty="0">
                <a:solidFill>
                  <a:schemeClr val="accent1">
                    <a:lumMod val="50000"/>
                  </a:schemeClr>
                </a:solidFill>
                <a:latin typeface="Calibri bold" panose="020F0702030404030204" pitchFamily="34" charset="0"/>
                <a:ea typeface="Calibri bold" panose="020F0702030404030204" pitchFamily="34" charset="0"/>
                <a:cs typeface="Calibri bold" panose="020F0702030404030204" pitchFamily="34" charset="0"/>
              </a:rPr>
              <a:t>Insights:</a:t>
            </a:r>
            <a:r>
              <a:rPr lang="en-US" dirty="0"/>
              <a:t> </a:t>
            </a:r>
            <a:r>
              <a:rPr lang="en-US" sz="2000" dirty="0">
                <a:solidFill>
                  <a:srgbClr val="3A3A3A"/>
                </a:solidFill>
              </a:rPr>
              <a:t>Pale White dominates, contributing over $174.5M of all car sales. Red is least preferred.</a:t>
            </a:r>
            <a:endParaRPr lang="en-IN" dirty="0">
              <a:solidFill>
                <a:srgbClr val="3A3A3A"/>
              </a:solidFill>
              <a:latin typeface="Calibri bold" panose="020F0702030404030204" pitchFamily="34" charset="0"/>
              <a:ea typeface="Calibri bold" panose="020F0702030404030204" pitchFamily="34" charset="0"/>
              <a:cs typeface="Calibri bold" panose="020F0702030404030204" pitchFamily="34" charset="0"/>
            </a:endParaRPr>
          </a:p>
        </p:txBody>
      </p:sp>
    </p:spTree>
    <p:extLst>
      <p:ext uri="{BB962C8B-B14F-4D97-AF65-F5344CB8AC3E}">
        <p14:creationId xmlns:p14="http://schemas.microsoft.com/office/powerpoint/2010/main" val="3810155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674D6FB0-4EAB-09F5-6D11-831DB5250FB4}"/>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0FC9B4C-8BCB-FE57-9147-A98278E2F6F9}"/>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FFF1C94-0B1D-52C8-5B7F-06A975BDF920}"/>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D5B8B25-2A55-24DC-7610-BA7CB73C377E}"/>
              </a:ext>
            </a:extLst>
          </p:cNvPr>
          <p:cNvSpPr txBox="1"/>
          <p:nvPr/>
        </p:nvSpPr>
        <p:spPr>
          <a:xfrm>
            <a:off x="1766834" y="532071"/>
            <a:ext cx="8634332" cy="584775"/>
          </a:xfrm>
          <a:prstGeom prst="rect">
            <a:avLst/>
          </a:prstGeom>
          <a:noFill/>
        </p:spPr>
        <p:txBody>
          <a:bodyPr wrap="square" rtlCol="0">
            <a:spAutoFit/>
          </a:bodyPr>
          <a:lstStyle/>
          <a:p>
            <a:pPr algn="ctr"/>
            <a:r>
              <a:rPr lang="en-IN" sz="3200" dirty="0"/>
              <a:t>🏆</a:t>
            </a: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Top Car Brands by Sales</a:t>
            </a:r>
          </a:p>
        </p:txBody>
      </p:sp>
      <p:pic>
        <p:nvPicPr>
          <p:cNvPr id="3" name="Picture 2">
            <a:extLst>
              <a:ext uri="{FF2B5EF4-FFF2-40B4-BE49-F238E27FC236}">
                <a16:creationId xmlns:a16="http://schemas.microsoft.com/office/drawing/2014/main" id="{CB47086E-B331-D70A-4C87-E11EBEDE0E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0793" y="1307891"/>
            <a:ext cx="7210269" cy="3217376"/>
          </a:xfrm>
          <a:prstGeom prst="rect">
            <a:avLst/>
          </a:prstGeom>
        </p:spPr>
      </p:pic>
      <p:sp>
        <p:nvSpPr>
          <p:cNvPr id="8" name="Rectangle 7">
            <a:extLst>
              <a:ext uri="{FF2B5EF4-FFF2-40B4-BE49-F238E27FC236}">
                <a16:creationId xmlns:a16="http://schemas.microsoft.com/office/drawing/2014/main" id="{55E0A037-E061-2CDD-4492-4686120B86D8}"/>
              </a:ext>
            </a:extLst>
          </p:cNvPr>
          <p:cNvSpPr/>
          <p:nvPr/>
        </p:nvSpPr>
        <p:spPr>
          <a:xfrm>
            <a:off x="974361" y="5006715"/>
            <a:ext cx="10463133" cy="1214201"/>
          </a:xfrm>
          <a:prstGeom prst="rect">
            <a:avLst/>
          </a:prstGeom>
          <a:solidFill>
            <a:srgbClr val="DD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 </a:t>
            </a:r>
            <a:r>
              <a:rPr lang="en-IN" sz="2400" dirty="0">
                <a:solidFill>
                  <a:schemeClr val="accent1">
                    <a:lumMod val="50000"/>
                  </a:schemeClr>
                </a:solidFill>
                <a:latin typeface="Calibri bold" panose="020F0702030404030204" pitchFamily="34" charset="0"/>
                <a:ea typeface="Calibri bold" panose="020F0702030404030204" pitchFamily="34" charset="0"/>
                <a:cs typeface="Calibri bold" panose="020F0702030404030204" pitchFamily="34" charset="0"/>
              </a:rPr>
              <a:t>Insights:</a:t>
            </a:r>
            <a:r>
              <a:rPr lang="en-US" dirty="0"/>
              <a:t> </a:t>
            </a:r>
            <a:r>
              <a:rPr lang="en-US" sz="2000" dirty="0">
                <a:solidFill>
                  <a:srgbClr val="3A3A3A"/>
                </a:solidFill>
              </a:rPr>
              <a:t>Chevrolet leads in highest car sold. Cadillac had high average selling price but lower 	units sold with lower total sales. Ford had high in all like Avg price , car sold and total revenue also.</a:t>
            </a:r>
            <a:endParaRPr lang="en-IN" dirty="0">
              <a:solidFill>
                <a:srgbClr val="3A3A3A"/>
              </a:solidFill>
              <a:latin typeface="Calibri bold" panose="020F0702030404030204" pitchFamily="34" charset="0"/>
              <a:ea typeface="Calibri bold" panose="020F0702030404030204" pitchFamily="34" charset="0"/>
              <a:cs typeface="Calibri bold" panose="020F0702030404030204" pitchFamily="34" charset="0"/>
            </a:endParaRPr>
          </a:p>
        </p:txBody>
      </p:sp>
    </p:spTree>
    <p:extLst>
      <p:ext uri="{BB962C8B-B14F-4D97-AF65-F5344CB8AC3E}">
        <p14:creationId xmlns:p14="http://schemas.microsoft.com/office/powerpoint/2010/main" val="2108042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20EF14BF-8C72-4E08-985D-0C65E164784F}"/>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60F91B2-A71B-84B9-1F26-1D293AAE53D9}"/>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76CF4F2-CAB4-61B1-FEF7-C22A26D74BF1}"/>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5F1E9AE-254C-6FDA-7CD8-7BEA7BC6694B}"/>
              </a:ext>
            </a:extLst>
          </p:cNvPr>
          <p:cNvSpPr txBox="1"/>
          <p:nvPr/>
        </p:nvSpPr>
        <p:spPr>
          <a:xfrm>
            <a:off x="1766834" y="532071"/>
            <a:ext cx="8634332" cy="584775"/>
          </a:xfrm>
          <a:prstGeom prst="rect">
            <a:avLst/>
          </a:prstGeom>
          <a:noFill/>
        </p:spPr>
        <p:txBody>
          <a:bodyPr wrap="square" rtlCol="0">
            <a:spAutoFit/>
          </a:bodyPr>
          <a:lstStyle/>
          <a:p>
            <a:pPr algn="ctr"/>
            <a:r>
              <a:rPr lang="en-US" sz="3200" dirty="0"/>
              <a:t>🚗 </a:t>
            </a:r>
            <a:r>
              <a:rPr lang="en-US"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High-Value Car Sales Overview</a:t>
            </a:r>
            <a:endPar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endParaRPr>
          </a:p>
        </p:txBody>
      </p:sp>
      <p:sp>
        <p:nvSpPr>
          <p:cNvPr id="8" name="Rectangle 7">
            <a:extLst>
              <a:ext uri="{FF2B5EF4-FFF2-40B4-BE49-F238E27FC236}">
                <a16:creationId xmlns:a16="http://schemas.microsoft.com/office/drawing/2014/main" id="{9DF9B637-FED9-03B7-3424-26F4B6E69465}"/>
              </a:ext>
            </a:extLst>
          </p:cNvPr>
          <p:cNvSpPr/>
          <p:nvPr/>
        </p:nvSpPr>
        <p:spPr>
          <a:xfrm>
            <a:off x="974361" y="5006715"/>
            <a:ext cx="10750445" cy="1510255"/>
          </a:xfrm>
          <a:prstGeom prst="rect">
            <a:avLst/>
          </a:prstGeom>
          <a:solidFill>
            <a:srgbClr val="DD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 </a:t>
            </a:r>
            <a:r>
              <a:rPr lang="en-IN" sz="2400" dirty="0">
                <a:solidFill>
                  <a:schemeClr val="accent1">
                    <a:lumMod val="50000"/>
                  </a:schemeClr>
                </a:solidFill>
                <a:latin typeface="Calibri bold" panose="020F0702030404030204" pitchFamily="34" charset="0"/>
                <a:ea typeface="Calibri bold" panose="020F0702030404030204" pitchFamily="34" charset="0"/>
                <a:cs typeface="Calibri bold" panose="020F0702030404030204" pitchFamily="34" charset="0"/>
              </a:rPr>
              <a:t>Insights:</a:t>
            </a:r>
            <a:r>
              <a:rPr lang="en-US" sz="2000" dirty="0">
                <a:solidFill>
                  <a:srgbClr val="3A3A3A"/>
                </a:solidFill>
              </a:rPr>
              <a:t>The Cadillac Eldorado appears 5 times among top transactions, all priced at $86K or $85K.</a:t>
            </a:r>
          </a:p>
          <a:p>
            <a:pPr algn="ctr"/>
            <a:r>
              <a:rPr lang="en-US" sz="2000" dirty="0">
                <a:solidFill>
                  <a:srgbClr val="3A3A3A"/>
                </a:solidFill>
              </a:rPr>
              <a:t>All Top Selling cars listed were sold in Black color.</a:t>
            </a:r>
            <a:endParaRPr lang="en-IN" sz="2000" dirty="0">
              <a:solidFill>
                <a:srgbClr val="3A3A3A"/>
              </a:solidFill>
              <a:latin typeface="Calibri bold" panose="020F0702030404030204" pitchFamily="34" charset="0"/>
              <a:ea typeface="Calibri bold" panose="020F0702030404030204" pitchFamily="34" charset="0"/>
              <a:cs typeface="Calibri bold" panose="020F0702030404030204" pitchFamily="34" charset="0"/>
            </a:endParaRPr>
          </a:p>
        </p:txBody>
      </p:sp>
      <p:pic>
        <p:nvPicPr>
          <p:cNvPr id="6" name="Picture 5">
            <a:extLst>
              <a:ext uri="{FF2B5EF4-FFF2-40B4-BE49-F238E27FC236}">
                <a16:creationId xmlns:a16="http://schemas.microsoft.com/office/drawing/2014/main" id="{15947BB3-C037-BB57-49D4-78C2A9403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8942" y="1454046"/>
            <a:ext cx="9818552" cy="3084771"/>
          </a:xfrm>
          <a:prstGeom prst="rect">
            <a:avLst/>
          </a:prstGeom>
        </p:spPr>
      </p:pic>
    </p:spTree>
    <p:extLst>
      <p:ext uri="{BB962C8B-B14F-4D97-AF65-F5344CB8AC3E}">
        <p14:creationId xmlns:p14="http://schemas.microsoft.com/office/powerpoint/2010/main" val="619734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EB2132BA-20AE-6917-5EBC-D73943382F80}"/>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2D492AA-C856-9359-56BD-8FE4C1E41D86}"/>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7C0C02D-5FC2-5028-31E6-414D6CB361E1}"/>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494FE5D-F659-254C-F9C3-41C6A68CA32B}"/>
              </a:ext>
            </a:extLst>
          </p:cNvPr>
          <p:cNvSpPr txBox="1"/>
          <p:nvPr/>
        </p:nvSpPr>
        <p:spPr>
          <a:xfrm>
            <a:off x="1766834" y="532071"/>
            <a:ext cx="8634332" cy="584775"/>
          </a:xfrm>
          <a:prstGeom prst="rect">
            <a:avLst/>
          </a:prstGeom>
          <a:noFill/>
        </p:spPr>
        <p:txBody>
          <a:bodyPr wrap="square" rtlCol="0">
            <a:spAutoFit/>
          </a:bodyPr>
          <a:lstStyle/>
          <a:p>
            <a:pPr algn="ct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Dashboard</a:t>
            </a:r>
          </a:p>
        </p:txBody>
      </p:sp>
      <p:pic>
        <p:nvPicPr>
          <p:cNvPr id="6" name="Picture 5">
            <a:extLst>
              <a:ext uri="{FF2B5EF4-FFF2-40B4-BE49-F238E27FC236}">
                <a16:creationId xmlns:a16="http://schemas.microsoft.com/office/drawing/2014/main" id="{0E0A859A-2E5F-F638-ED16-0DC44BCFD6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389" y="1267050"/>
            <a:ext cx="10790417" cy="5388584"/>
          </a:xfrm>
          <a:prstGeom prst="rect">
            <a:avLst/>
          </a:prstGeom>
        </p:spPr>
      </p:pic>
    </p:spTree>
    <p:extLst>
      <p:ext uri="{BB962C8B-B14F-4D97-AF65-F5344CB8AC3E}">
        <p14:creationId xmlns:p14="http://schemas.microsoft.com/office/powerpoint/2010/main" val="78942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E97E1640-E421-3A9A-DAF9-0AD7B9F547A2}"/>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891AB62-5E53-C724-1363-5311B7526894}"/>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852B49F-01C4-D749-1321-4A439F6583A1}"/>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3610C42-628D-8044-D6DF-A9BF1063D740}"/>
              </a:ext>
            </a:extLst>
          </p:cNvPr>
          <p:cNvSpPr txBox="1"/>
          <p:nvPr/>
        </p:nvSpPr>
        <p:spPr>
          <a:xfrm>
            <a:off x="1766834" y="532071"/>
            <a:ext cx="8634332" cy="584775"/>
          </a:xfrm>
          <a:prstGeom prst="rect">
            <a:avLst/>
          </a:prstGeom>
          <a:noFill/>
        </p:spPr>
        <p:txBody>
          <a:bodyPr wrap="square" rtlCol="0">
            <a:spAutoFit/>
          </a:bodyPr>
          <a:lstStyle/>
          <a:p>
            <a:pPr algn="ct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Dashboard</a:t>
            </a:r>
          </a:p>
        </p:txBody>
      </p:sp>
      <p:pic>
        <p:nvPicPr>
          <p:cNvPr id="3" name="Picture 2">
            <a:extLst>
              <a:ext uri="{FF2B5EF4-FFF2-40B4-BE49-F238E27FC236}">
                <a16:creationId xmlns:a16="http://schemas.microsoft.com/office/drawing/2014/main" id="{23905AEE-AB86-7192-3625-49C25C9529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390" y="1307891"/>
            <a:ext cx="10790415" cy="5140380"/>
          </a:xfrm>
          <a:prstGeom prst="rect">
            <a:avLst/>
          </a:prstGeom>
        </p:spPr>
      </p:pic>
    </p:spTree>
    <p:extLst>
      <p:ext uri="{BB962C8B-B14F-4D97-AF65-F5344CB8AC3E}">
        <p14:creationId xmlns:p14="http://schemas.microsoft.com/office/powerpoint/2010/main" val="3582304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FB28F741-8509-A702-CC0D-6496687BCD06}"/>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45CA9783-DE4B-679D-4B62-50906FEA860E}"/>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E696C2-594A-54C5-5752-9E87B2B907DB}"/>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593D5DE-1FE2-C7C1-0E74-3BE427486491}"/>
              </a:ext>
            </a:extLst>
          </p:cNvPr>
          <p:cNvSpPr txBox="1"/>
          <p:nvPr/>
        </p:nvSpPr>
        <p:spPr>
          <a:xfrm>
            <a:off x="1766834" y="532071"/>
            <a:ext cx="8634332" cy="584775"/>
          </a:xfrm>
          <a:prstGeom prst="rect">
            <a:avLst/>
          </a:prstGeom>
          <a:noFill/>
        </p:spPr>
        <p:txBody>
          <a:bodyPr wrap="square" rtlCol="0">
            <a:spAutoFit/>
          </a:bodyPr>
          <a:lstStyle/>
          <a:p>
            <a:pPr algn="ctr"/>
            <a:r>
              <a:rPr lang="en-IN" sz="3200" dirty="0"/>
              <a:t>💡</a:t>
            </a: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Business Insights</a:t>
            </a:r>
          </a:p>
        </p:txBody>
      </p:sp>
      <p:sp>
        <p:nvSpPr>
          <p:cNvPr id="2" name="TextBox 1">
            <a:extLst>
              <a:ext uri="{FF2B5EF4-FFF2-40B4-BE49-F238E27FC236}">
                <a16:creationId xmlns:a16="http://schemas.microsoft.com/office/drawing/2014/main" id="{7D3AF6CE-67F7-ACE7-42DD-5788DE0D1621}"/>
              </a:ext>
            </a:extLst>
          </p:cNvPr>
          <p:cNvSpPr txBox="1"/>
          <p:nvPr/>
        </p:nvSpPr>
        <p:spPr>
          <a:xfrm>
            <a:off x="1543989" y="1573967"/>
            <a:ext cx="9758595" cy="3276282"/>
          </a:xfrm>
          <a:prstGeom prst="rect">
            <a:avLst/>
          </a:prstGeom>
          <a:noFill/>
        </p:spPr>
        <p:txBody>
          <a:bodyPr wrap="square" rtlCol="0">
            <a:spAutoFit/>
          </a:bodyPr>
          <a:lstStyle/>
          <a:p>
            <a:r>
              <a:rPr lang="en-US" sz="2000" dirty="0"/>
              <a:t>SUVs lead with 26.91% market share.</a:t>
            </a:r>
          </a:p>
          <a:p>
            <a:br>
              <a:rPr lang="en-US" sz="2000" dirty="0"/>
            </a:br>
            <a:r>
              <a:rPr lang="en-US" sz="2000" dirty="0"/>
              <a:t>Pale White is the most preferred color (47.02%), while 100% of high-value cars were sold in black.</a:t>
            </a:r>
          </a:p>
          <a:p>
            <a:br>
              <a:rPr lang="en-US" sz="2000" dirty="0"/>
            </a:br>
            <a:r>
              <a:rPr lang="en-US" sz="2000" dirty="0"/>
              <a:t>Week 36 is the high sale week in year.</a:t>
            </a:r>
          </a:p>
          <a:p>
            <a:br>
              <a:rPr lang="en-US" sz="2000" dirty="0"/>
            </a:br>
            <a:r>
              <a:rPr lang="en-US" sz="2000" dirty="0"/>
              <a:t>Ford &amp; </a:t>
            </a:r>
            <a:r>
              <a:rPr lang="en-US" sz="2000" dirty="0">
                <a:solidFill>
                  <a:srgbClr val="3A3A3A"/>
                </a:solidFill>
              </a:rPr>
              <a:t>Chevrolet</a:t>
            </a:r>
            <a:r>
              <a:rPr lang="en-US" sz="2000" dirty="0"/>
              <a:t> lead highest sales and car sold.</a:t>
            </a:r>
          </a:p>
          <a:p>
            <a:endParaRPr lang="en-US" sz="2000" dirty="0"/>
          </a:p>
          <a:p>
            <a:pPr>
              <a:lnSpc>
                <a:spcPct val="150000"/>
              </a:lnSpc>
            </a:pPr>
            <a:r>
              <a:rPr lang="en-US" sz="2000" dirty="0"/>
              <a:t>Star Enterprises </a:t>
            </a:r>
            <a:r>
              <a:rPr lang="en-US" sz="2000" dirty="0" err="1"/>
              <a:t>inc</a:t>
            </a:r>
            <a:r>
              <a:rPr lang="en-US" sz="2000" dirty="0"/>
              <a:t> was the leading dealer with 86K highest Total Revenue.</a:t>
            </a:r>
            <a:endParaRPr lang="en-IN" sz="2000" dirty="0"/>
          </a:p>
        </p:txBody>
      </p:sp>
    </p:spTree>
    <p:extLst>
      <p:ext uri="{BB962C8B-B14F-4D97-AF65-F5344CB8AC3E}">
        <p14:creationId xmlns:p14="http://schemas.microsoft.com/office/powerpoint/2010/main" val="4176412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832A067E-AE33-2446-3B49-C2EACF9115C3}"/>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2E8C60F-1230-730E-6464-EE485A84DE35}"/>
              </a:ext>
            </a:extLst>
          </p:cNvPr>
          <p:cNvCxnSpPr>
            <a:cxnSpLocks/>
          </p:cNvCxnSpPr>
          <p:nvPr/>
        </p:nvCxnSpPr>
        <p:spPr>
          <a:xfrm flipH="1">
            <a:off x="0" y="341025"/>
            <a:ext cx="12168000" cy="0"/>
          </a:xfrm>
          <a:prstGeom prst="line">
            <a:avLst/>
          </a:prstGeom>
          <a:ln w="31750">
            <a:solidFill>
              <a:srgbClr val="D7263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8DF393B-C168-5A04-0980-0591EA1540D9}"/>
              </a:ext>
            </a:extLst>
          </p:cNvPr>
          <p:cNvCxnSpPr/>
          <p:nvPr/>
        </p:nvCxnSpPr>
        <p:spPr>
          <a:xfrm>
            <a:off x="467194" y="0"/>
            <a:ext cx="0" cy="6858000"/>
          </a:xfrm>
          <a:prstGeom prst="line">
            <a:avLst/>
          </a:prstGeom>
          <a:ln>
            <a:solidFill>
              <a:srgbClr val="3A3A3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A5B4929-FA0A-36BD-6683-1DE6E990914B}"/>
              </a:ext>
            </a:extLst>
          </p:cNvPr>
          <p:cNvSpPr txBox="1"/>
          <p:nvPr/>
        </p:nvSpPr>
        <p:spPr>
          <a:xfrm>
            <a:off x="1766834" y="822506"/>
            <a:ext cx="8634332" cy="584775"/>
          </a:xfrm>
          <a:prstGeom prst="rect">
            <a:avLst/>
          </a:prstGeom>
          <a:noFill/>
        </p:spPr>
        <p:txBody>
          <a:bodyPr wrap="square" rtlCol="0">
            <a:spAutoFit/>
          </a:bodyPr>
          <a:lstStyle/>
          <a:p>
            <a:pPr algn="ctr"/>
            <a:r>
              <a:rPr lang="en-IN" sz="3200" dirty="0">
                <a:solidFill>
                  <a:schemeClr val="tx2">
                    <a:lumMod val="50000"/>
                  </a:schemeClr>
                </a:solidFill>
                <a:latin typeface="Calibri bold" panose="020F0702030404030204" pitchFamily="34" charset="0"/>
                <a:ea typeface="Calibri bold" panose="020F0702030404030204" pitchFamily="34" charset="0"/>
                <a:cs typeface="Calibri bold" panose="020F0702030404030204" pitchFamily="34" charset="0"/>
              </a:rPr>
              <a:t>Conclusion</a:t>
            </a:r>
          </a:p>
        </p:txBody>
      </p:sp>
      <p:sp>
        <p:nvSpPr>
          <p:cNvPr id="2" name="TextBox 1">
            <a:extLst>
              <a:ext uri="{FF2B5EF4-FFF2-40B4-BE49-F238E27FC236}">
                <a16:creationId xmlns:a16="http://schemas.microsoft.com/office/drawing/2014/main" id="{134ECCFB-86FB-7968-779E-B669DAE86005}"/>
              </a:ext>
            </a:extLst>
          </p:cNvPr>
          <p:cNvSpPr txBox="1"/>
          <p:nvPr/>
        </p:nvSpPr>
        <p:spPr>
          <a:xfrm>
            <a:off x="1004341" y="1888761"/>
            <a:ext cx="10583055" cy="1429622"/>
          </a:xfrm>
          <a:prstGeom prst="rect">
            <a:avLst/>
          </a:prstGeom>
          <a:noFill/>
        </p:spPr>
        <p:txBody>
          <a:bodyPr wrap="square" rtlCol="0">
            <a:spAutoFit/>
          </a:bodyPr>
          <a:lstStyle/>
          <a:p>
            <a:pPr>
              <a:lnSpc>
                <a:spcPct val="150000"/>
              </a:lnSpc>
            </a:pPr>
            <a:r>
              <a:rPr lang="en-US" sz="2000" dirty="0"/>
              <a:t>The Car Sales Analysis Dashboard provided a 360° view of automotive sales performance using interactive Power BI visuals and KPIs. Through this project, we uncovered critical business insights across brands , </a:t>
            </a:r>
            <a:r>
              <a:rPr lang="en-US" sz="2000" dirty="0" err="1"/>
              <a:t>Colour</a:t>
            </a:r>
            <a:r>
              <a:rPr lang="en-US" sz="2000" dirty="0"/>
              <a:t>, regions, and customer behavior patterns.</a:t>
            </a:r>
            <a:endParaRPr lang="en-IN" sz="2000" dirty="0">
              <a:solidFill>
                <a:schemeClr val="tx1">
                  <a:lumMod val="85000"/>
                  <a:lumOff val="15000"/>
                </a:schemeClr>
              </a:solidFill>
            </a:endParaRPr>
          </a:p>
        </p:txBody>
      </p:sp>
    </p:spTree>
    <p:extLst>
      <p:ext uri="{BB962C8B-B14F-4D97-AF65-F5344CB8AC3E}">
        <p14:creationId xmlns:p14="http://schemas.microsoft.com/office/powerpoint/2010/main" val="8958332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651</TotalTime>
  <Words>720</Words>
  <Application>Microsoft Office PowerPoint</Application>
  <PresentationFormat>Widescreen</PresentationFormat>
  <Paragraphs>81</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bold</vt:lpstr>
      <vt:lpstr>Calibri Light</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Riya Nemade</dc:creator>
  <cp:lastModifiedBy>Riya Nemade</cp:lastModifiedBy>
  <cp:revision>4</cp:revision>
  <dcterms:created xsi:type="dcterms:W3CDTF">2025-04-30T07:52:27Z</dcterms:created>
  <dcterms:modified xsi:type="dcterms:W3CDTF">2025-04-30T18:44:24Z</dcterms:modified>
</cp:coreProperties>
</file>